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F4E78"/>
                </a:solidFill>
              </a:rPr>
              <a:t>【4112】保土谷化学工業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推奨：BUY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アナリスト0社・PBR 0.69倍 = 機関投資家未発見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投資期間：2026年Q4までを軸に判断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</a:rPr>
              <a:t>瀧本ゼミ 発表者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MacBook Pro OLED量産 = SFC材料需要爆発、アナリスト0社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Appleが2026年MacBook ProにOLEDを初採用、Samsung Displayが製造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SDCに青色OLEDホスト材料を供給するのがSFC(保土谷50%出資)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ノートPC1台 ≒ iPhone 11-14台分の材料消費 (面積25倍 × タンデム2層)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アナリスト0社・PBR 0.69倍 = 機関投資家が再評価していない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「染料・化学メーカー」認識のままミスプライシング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The Elec, Omdia, Digitimes, OLED-info, UBI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発表を理解するための地図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マクロ → ミクロ → バリュエーション の3つの問い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① なぜ「今」OLED材料需要が拡大するのか? (マクロ)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② なぜ「保土谷」がその恩恵を受けるのか? (ミクロ)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③ なぜ「今がまだ買い場」なのか? (バリュエーション)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台数 × 面積 × 積層数 × (1/歩留) = SFC材料需要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SFCへの材料需要
  ∝ IT-OLEDパネル枚数 × 画面の面積 × 発光層の積層数 ÷ 歩留まり
市場が見ている: 「IT-OLED CAGR +37% (Omdia)」 ← 枚数しか捉えていない
面積(スマホ比25倍) × 積層数(+50-75%タンデム) の累乗効果がさらに乗る
→ SFC材料需要 推計 CAGR 45-65%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因数分解：各因数の方向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MacBook Pro 1台 ≒ iPhone 11-14台分の材料消費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因数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なぜ動くか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IT-OLEDパネル枚数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CAGR 37%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 / iPad Pro の普及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画面の面積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スマホ比25倍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スマホ→ノートPCへの大型化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発光層積層数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+50-75% (タンデム)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ノートPC向けは2層構造が標準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(1/歩留まり)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← 改善中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A6ライン歩留85%超、目標90%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Omdia, Digitimes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なぜ市場が気づいていないか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「145年の染料メーカー」認識がSFCを覆い隠している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観点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現状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アナリストカバレッジ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0社 (みんかぶ・IFIS共に「対象外」)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機関投資家の認識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「145年の歴史を持つ染料・化学メーカー」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OLED材料サプライヤー認識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ほぼゼロ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1️⃣ 基本情報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2️⃣ マクロ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3️⃣ ミクロ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4️⃣ バリュエーション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5️⃣ Appendix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会社の概要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時価総額381億・PBR 0.69倍 = 純資産を下回る割安水準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銘柄コード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4112 (東証プライム)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創業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1878年(明治11年)、145年の歴史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主事業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有機合成化学品(染料・中間体・OLED材料)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時価総額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約381億円(2026/5)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株価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2,464円(2026/5/11)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0.69倍 (純資産を下回る割安)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アナリストカバレッジ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(補足) PBRとは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純資産対比の株価倍率、0.69 = 解散しても株価より戻る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会社の純資産(解散時に株主に戻る価値)に対して株価が何倍か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0.69倍 = 今すぐ解散しても株価より多くお金が戻ってくる状態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割安のサインとして使われる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ビジネスモデルの全体像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表面は化学メーカー、実態はSFC持分法利益が稼ぎ頭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保土谷化学工業 (4112)
 │
 ├─ 国内化成品事業(染料・農薬中間体など)
 │    → 安定的だが成熟、成長ドライバーではない
 │
 └─ SFC (Samsung Fine Chemicals)  ← 投資テーゼの核心
      → 保有持分: 約50%
      → 韓国法人、Samsung Display(SDC)と50:50の合弁
      → 主力製品: 青色OLEDホスト材料・ドーパント
      → 主要顧客: Samsung Display (ほぼ独占的)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そもそもOLEDとは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有機ELディスプレイ、自発光で薄く美しい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有機化合物の薄膜に電気を流すと自ら光る仕組み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液晶(LCD)と違い自発光、薄く美しい発色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iPhoneやSamsung Galaxyのスマホで主流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OLEDの構造(超簡略版)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発光層(EML)の品質を決めるのがホスト材料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[陰極(−)]
  ↑ 電子が流れてくる
[電子輸送層]
┌──────────────────────────────┐
│ 発光層(EML)                  │
│  ・青色ホスト材料 ← SFCが供給│  ここで光が生まれる
│  ・青色ドーパント(発光体)    │
└──────────────────────────────┘
[正孔輸送層]
  ↑ 正孔が流れてくる
[陽極(+)]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青色ホスト材料とは(アナロジー)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演者がどれだけ輝けるかは「会場」の品質で決まる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ホスト = コンサート会場、ドーパント = 演者(発光体)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どんなに優れた演者でも、粗末な会場では実力発揮できない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青色ホスト材料はOLEDの発光効率・寿命を決める「会場」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ここをSFCが独占的に供給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なぜ青色が難しいか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RGB三色のうち青が最難関、OLEDの画質寿命を決定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青色発光体は劣化しやすく、発光効率も赤・緑より低い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OLEDの画質・寿命は「青の品質」で決まると言って過言ではない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SFCはこの最難関の材料を専門とする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2️⃣ マクロ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2️⃣ マクロ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マクロ全体の流れ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スマホ縮小 → IT-OLED急拡大、MacBook Pro量産が転換点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[今起きていること]
スマホOLED市場は成熟・縮小 → 代わりにノートPC・タブレット向けOLEDが急拡大
[2026年の最大イベント]
Apple MacBook ProにOLEDが初採用 → Samsung Display A6ラインが量産開始
[なぜ材料需要が「スマホの時代」とは桁違いか]
大画面 × 発光層2枚(タンデム) → 1台あたり材料量がスマホの11-14倍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主戦場の交代(2026年成長率)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スマホは-3%、IT機器向けは+39〜61%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セグメント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2026年成長率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状況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スマホOLED材料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-3%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市場飽和、単価も低下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タブレットOLEDパネル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+39%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iPad Pro、Galaxy Tab等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ノートPC OLEDパネル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+46%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 OLEDが牽引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OLEDモニター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+61%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ゲーミング・クリエイター向け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Omdia (2025-2026年データ)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Samsung Display A6ラインの状況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2026年5-6月量産開始、歩留85%超で安定フェーズ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製造会社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Samsung Display(韓国)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工場・ライン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天安工場 A6ライン(第8.6世代ガラス基板)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量産開始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2026年5〜6月にガラス投入、7月本格量産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歩留まり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4月下旬時点で85%超(目標90%)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Apple向け出荷目標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200万枚(2026年中)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競合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SDCがリジッド8.6G OLEDを独占供給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Digitimes報道、Samsung Display 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タンデムOLEDとは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発光層2枚重ね = 材料消費が単純に倍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[従来のスマホ向けOLED(シングルスタック)]
    [発光層 × 1枚]  ← 材料を1枚分だけ使う
[ノートPC向けOLED(タンデム構造)]
    [発光層 × 1枚]
    [電荷生成層]    ← 2層を繋ぐ層
    [発光層 × 1枚]  ← 合計で材料を2枚分使う
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なぜノートPCはタンデムが必要か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長時間×大画面の輝度・寿命要求でタンデムが事実上必須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ノートPCは長時間使用、かつスマホより画面大 → 輝度・寿命要求高い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タンデムで各発光層の負荷を半分に抑え、寿命が大幅に伸びる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スマホOLEDをそのまま大きくしてもノートPC要求水準を満たせない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タンデムが事実上の必須構造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タンデム採用率の推移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0% → 36%へ急上昇、今後も上昇見込み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採用率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イベント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2023年以前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IT向けOLEDがほぼ存在しない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2024年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30%超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iPad Pro(史上初のタンデム製品)が登場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2026年(予測)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 OLEDが加わる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Omdia (2025年4月)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MacBook Pro 1台 vs iPhone 1台の材料消費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面積25倍 × タンデム2層 = 約11-14台分の材料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iPhone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MacBook Pro 16inch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画面面積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約135 cm²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約3,400 cm² (約25倍)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OLED構造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シングルスタック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タンデム(2層)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材料消費量(換算)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1台分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約11-14台分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MacBook Pro 200万台 ≒ スマホ換算 2,200-2,800万台分の材料需要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3️⃣ ミクロ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3️⃣ ミクロ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SFCのMoat①: 資本的一体化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SDC = SFC共同出資者、切り替え動機が構造的にゼロ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Samsung Display ── 50%出資 ──→ SFC ←── 50%出資 ── 保土谷化学
                                ↑
                       「自分が株主の会社」
                       から材料を買っている
競合材料メーカーへの切り替え = 「自分が株主の会社を外す」意思決定
→ SDCがSFCを切り替えるインセンティブは構造的にほぼゼロ
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SFCのMoat②: 昇華精製の暗黙知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1ppm純度 × 数年-数十年の試行錯誤 = 模倣困難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OLEDホスト材料は不純物が1ppm(100万分の1)以下の超高純度が必要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「昇華精製」プロセスは温度・圧力・速度の微妙な調整が必要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最適パラメータ発見に数年〜数十年の試行錯誤、技術者の勘に依存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保土谷145年の有機化学の知見がSFCに移転、後発が同品質を出すのは極めて困難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SFCのMoat③: スペックイン2-3年保護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切り替えに最短2-3年 = 一度組み込まれたら長期保護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新材料の評価開始
  → 単体特性評価(発光効率・色・電流効率)    : 数ヶ月
  → デバイス評価(パネルレベルの寿命・画質)  : 数ヶ月〜1年
  → 量産試験(歩留・安定性の確認)            : 数ヶ月
  → 量産ラインへの組み込み
                              合計: 最短でも 2〜3年
→ スペックインされた材料は 2-3年間、構造的に保護される
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今が変曲点(タイムライン)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MacBook Proだけの一発イベントではなく、構造的転換点の始まり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2024年       → iPad Pro Tandem OLED採用(タンデム0% → 30%超に急上昇)
2026年Q2     → Samsung Display A6ライン稼働、MacBook Pro向け材料出荷  ← 今ここ
2026年Q3     → MacBook Pro発売(Apple秋イベント前後)
2026年Q4     → SFC材料需要がピーク、業績反映開始
2027年以降   → iPad Air OLED、MacBook Air OLED等 追加案件が続く見込み
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なぜSFCはマクロをoutperformするか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顧客集中 × 非スマホ依存 × タンデム恩恵 で +45-65% CAGR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理由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詳細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顧客がSDC集中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SDCはIT-OLED独占サプライヤー、増産がそのままSFCに直結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スマホOLED縮小の影響なし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SFC主用途はIT-OLED、スマホ縮小と無関係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タンデム採用率上昇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採用率上昇で1枚あたり材料消費が増える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SFC材料消費量推計CAGR 45-65% (保守〜楽観)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4️⃣ バリュエーション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4️⃣ バリュエーション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現在の株価水準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2-3月比+35-45%上昇後でも、機関投資家の本格再評価はまだ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読み方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株価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2,464円(2026/5/11)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2-3月比+35-45%上昇済み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時価総額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約381億円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中小型株の域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0.69倍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純資産を下回る「割安水準」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アナリストカバレッジ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0社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機関投資家の再評価余地が大きい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なぜまだ割安なのか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染料メーカー認識 + 簿価のSFC持分 = 二重の隠れ資産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市場は依然「染料・化学メーカー」として見ている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MacBook Pro向けSFC青色ホスト材料量産は利益予測に未反映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SFC自身がKOSPI上場を計画、実現で保有持分が時価評価される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現在は簿価(取得原価)でしか見えない「隠れた資産」が表面化する可能性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OLED-info (2025年11月) 報道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シナリオ別の方向感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詳細数値はバリュエーションシート参照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シナリオ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前提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Bear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Pro量産がFY27以降にズレ込み、SFC寄与限定的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Base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 200万枚出荷、タンデム効果フル享受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Bull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 + iPad Pro継続 + 追加IT-OLED案件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5️⃣ Appendix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5️⃣ Appendix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A. LG Chem訴訟リスク(最重要テールリスク)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判決2026年7-8月 = MacBook Pro量産と完全に重なる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LG ChemがSFC青色ホスト材料の特許侵害を訴訟(2019年〜)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2024年に特許法院でもSFC敗訴(2連敗)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2026年4月: LG Chemが製造販売輸入禁止+在庫廃棄を追加請求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2026年7-8月: 最高裁が最終判断予定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The Elec、UBI Research 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LG Chemの請求内容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差止と在庫廃棄が認められると経営リスク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請求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規模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損害賠償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約300億ウォン(約22億円)、SFC年利益と同規模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製造販売輸入禁止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SFCの青色ホスト材料の製造販売輸入の差止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在庫廃棄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現在の在庫を全て廃棄(韓国では極めてまれな請求)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シナリオ分析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差止確率15%、メインストーリーが純粋機能する確率40%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シナリオ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推定確率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保土谷株への影響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A. 和解 or SFC勝訴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✓ 訴訟リスク消滅、メインストーリー機能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B. 損害賠償のみで決着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45%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△ 約22億円特損、供給継続、影響軽微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C. 製造差止命令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✗ 量産タイミングで供給停止、株価-30〜-50%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なぜシナリオCの確率が低いか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SDCの阻止動機 + 韓国司法慣行で差止は稀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①SDCはSFC共同出資者、量産ラインに直結する材料が止まることは許容できない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SDCがLG Chemとクロスライセンス交渉に入る動機が極めて強い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②韓国の特許侵害訴訟で即時製造差止は極めてまれ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損害賠償が主な救済手段となることが多い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投資戦略: エントリー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訴訟結果AorBで決着後にポジション拡大が安全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現在(訴訟結果前): ポジション軽め、15%確率の-30〜-50%リスクあり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訴訟がA/Bで決着(2026年7-8月): ポジション拡大、メインストーリー加速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MacBook Pro発表後反落時: 「事実で売り」の押し目買い機会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カタリストと売却タイミング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LG Chem判決 → MacBook Pro発売 → SFC IPO の順に上昇要因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カタリスト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対応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LG Chem最高裁判決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2026年7-8月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A/Bならポジション拡大、Cなら即売却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MacBook Pro発売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2026年9-10月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「噂で買い事実で売り」リスクあり、利確検討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FY26 3Q-4Q決算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26年11月-27年2月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数字でバリュエーション再評価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アナリストカバレッジ開始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時期不明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情報格差の窓が閉じる、フェードアウト検討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SFC KOSPI上場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時期未定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PBR再評価完成、IPO後は割安感消滅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C. SFC KOSPI IPO計画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簿価→時価のカタリスト、PBR割安の主因を解消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OLED-info(2025年11月)報道: SFCがKOSPI上場を計画中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現在、保土谷BSのSFC持分は取得原価(簿価)で計上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SFC上場で保有持分が時価評価され、PBR 0.69倍の主因が表面化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リスク: LG Chem訴訟次第で計画が延期・中止の可能性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D. BOEによる追加機会(参考)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フレキシブル基板で技術別、現時点で採用エビデンスなし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BOEは成都に第8.6世代OLEDライン建設中(2025-2026年)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ただしフレキシブルOLED(ポリイミド基板)で、リジッドOLEDと別技術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SFCがBOEに採用されている確認エビデンスは現時点でない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メインストーリーには組み込まず、オプション価値として保持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