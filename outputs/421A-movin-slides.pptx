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1F4E78"/>
                </a:solidFill>
              </a:rPr>
              <a:t>【421A】ムービン・ストラテジック・キャリア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推奨：BUY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投資期間：3年(FY27まで)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ワーストでも株価4.43倍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808080"/>
                </a:solidFill>
              </a:rPr>
              <a:t>13.0期 生田開都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ストーリー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25年保守経営から覚醒、CAボトルネック解消で売上×4.5倍へ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コンサル特化の転職エージェント、創業28年で95%のコンサルとつながりあり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25年間ヨコヨコ → AIや競合の出現で社長が危機感、本気の成長フェーズへ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CA増員・クライアントシフト・SEO強化・DB掘り起こしの4施策が一斉発動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FY24→FY27で売上 ×4.5、純利益 ×8.5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市場は「市場連動の会社」と認識、施策起因の加速フェーズに気づいていない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ムービンIR電話、目論見書、IMF、コンサル業界各社の被保険者数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成長を因数分解する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経験年数コホート別 + 検算用に成約数×単価ベース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売上 =  1年目人数 × 一人当たり売上
      + 2年目人数 × 一人当たり売上
      + 3年目以降人数 × 一人当たり売上
別の見方(検算用):
売上 = 成約数 × 成約単価
成約単価 = 転職後年収 × 手数料率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因数分解：各因数の方向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採用と単価上昇の二重追い風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因数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なぜ動くか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1年目CA人数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+35/+40/+40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採用計画。手取金をCA人件費に充当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2年目以降人数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自動増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定着率1年目92%/2年目以降82%でコホート厚く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一人当たり売上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経験曲線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1年目→2年目で4.7倍、3年目で7.99倍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成約単価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1.00→1.49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年収+5%×手数料率35→40%上昇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目論見書、IR電話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なぜ市場が気づいていないか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「市場連動の会社」認識が施策起因の加速を捉えていない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過去業績: 2025年に入るまで25年間ヨコヨコ → 成長しない会社と認識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直近の伸びの解釈: 「コンサル市場の伸びに比例」と見られる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実態: 施策起因の加速フェーズ。CAという律速が外れ、施策効果が積み上がる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来期以降: 4施策はまだ途上段階、直近の変化は加速する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1️⃣ 基本情報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2️⃣ マクロ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3️⃣ ミクロ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4️⃣ バリュエーション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5️⃣ Appendix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1️⃣ 基本情報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会社の概要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コンサル特化の転職エージェント、創業28年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銘柄コード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421A (東証グロース)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主事業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コンサル特化の転職エージェント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モデル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求職者にCAが無料支援、採用時に企業から年収×手数料率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現在の株価/PER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3,300円 / 27.5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投資の核心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25年保守経営から成長フェーズへの大転換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求職者サイドの構造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高学歴&amp;若者中心、8割が自社プラットフォーム経由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「コンサル 転職」検索でHPが上位表示(創業からのSEO)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自社HP経由が80%、ビズリーチ等の外部PFが20%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広告費ほぼ0で前期5,800人以上を自社集客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集客の仕組みが既に成立している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クライアントの「優勝劣敗」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ITコンサル/DX支援/PMO が伸び、純粋戦略/シンクタンクは伸び悩み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「優勝」側: ノースサンド、Dirbatoなど(ITコンサル/DX実行支援/PMO)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「劣敗」側: マッキンゼー、三菱総研などの純粋戦略・シンクタンク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ムービンの戦略: 積極採用している優勝側に集中送客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単価上昇と成約数増加に直結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主要コンサルティングファームの被保険者数の変動率データ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目次(マクロへ)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2️⃣ マクロ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2️⃣ マクロ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コンサル業界は年率約10%成長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IT/DX/PMO が牽引、潮流は中長期で変わらず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市場CAGR: 約10%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牽引分野: ITコンサル、DX実行支援、PMO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要因: 生成AI事業開発、DX・IT刷新ニーズの高まり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見通し: 潮流は変わらず中長期的に高成長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コンサル業界の人手不足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他業界より3倍以上人手不足、構造的に解消しない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コンサル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全国平均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転職求人倍率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8.68倍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2.51倍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インフレ+人手不足で年収+5%/年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インフレ2% + 構造的人手不足 = 中長期で年収上昇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2022年から年率2%でインフレ発生(IMFは少なくとも2030年まで継続予想)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インフレ + 人手不足で年率5%で年収上昇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ムービンの成約単価が自動的に上がる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IMF、コンサル業界各社IR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マクロまとめ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市場の苦しみがムービンの追い風になる構造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コンサル業界が人手不足とインフレで苦しめば苦しむほど
    ↓
求人数と年収は上昇する
    ↓
ムービンの成約数と成約単価は上昇する
ただし市場は: 「市場に比例して成長する会社」と認識
→ 内部要因による加速を見落としている (= ミスプライシング)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目次(ミクロへ)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3️⃣ ミクロ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3️⃣ ミクロ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歴史: 創業と25年の保守経営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集客はずっと回っていた、CAが足りなくて伸びなかった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余命宣告されて、家族を養うために28年前に創業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「成長を指向しない、少数で高い果実」という方針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SEOは創業からやっていて集客は十分、CAが足りずさばけない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25年間売上ヨコヨコ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変曲点: 外部環境変化と危機感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AI出現+競合台頭+事業承継 で本気の成長フェーズへ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AIの出現で競争環境がガラッと変わりそう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ビズリーチ・リクルートと本格的に競合することに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創業25年でメンバー高齢化、事業承継が必要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→「これまでの方針では潰れる」と社長が危機感、成長に舵を切る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IPOの理由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事業承継 + BtoC スケール拡大に必要不可欠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事業承継には内部統制と資本問題解決が必要 → ほぼIPOと変わらない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BtoCなので知名度向上・資本力で投資ができる環境が必要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IPOがこの解決策として合理的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施策① SEO対策の強化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2022年メンバー増員、自社HP集客が3年で+38%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年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自社HP経由の集客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2022年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4,200人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2023年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4,600人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2024年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5,800人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施策② キャリアアドバイザー増員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律速段階を解消、成果は来期以降に反映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これまではDBに求職者が貯まっても処理できていなかった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2024年以降CA採用数を増加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彼らが戦力になるのは来期以降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いま採用したCAの成果はまだ業績未反映 = 加速フェーズの根拠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施策③ クライアントシフト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積極採用ファームに集中送客、手数料率35→40%超へ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2024年1Qからクライアントポートフォリオを入れ替え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伸びているクライアントの募集をキャッチしてフォローアップ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4Qから徐々に成果、まだ途上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手数料率上昇 × 成約数増加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施策④ 過去DB掘り起こし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過去にアプローチしてない8割に余地あり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それまでは一度支援したら終わりだった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2023年から掘り起こしを開始、成果が出たため増員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現状は過去DBの2割しかアプローチできていない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まだ余地あり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参入障壁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集客力PFと過去DBは短期では獲得不可能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集客PFを持たない他社は他社PF利用料を払う必要 → 経費圧迫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過去DBがないと新規集客に依存 → 広告宣伝費がかさむ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経費が膨らむと年収に回せず、CAの採用力が落ちる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創業28年の蓄積が参入障壁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目次(バリュエーションへ)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4️⃣ バリュエーション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4️⃣ バリュエーション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売上の組み立て(コホート別)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3年目以降コホートが時間と共に勝手に厚くなる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年度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1年目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2年目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3年目以降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FY24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158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508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1,728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2,387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FY25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243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1,636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2,545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4,424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FY26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241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2,347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4,865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7,453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FY27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268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2,320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8,060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10,647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単位: 百万円。本発表バリュエーションシート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利益のレバレッジ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固定費752百万円据置 → 営業利益率36% → 69% へ跳躍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FY24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FY25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FY26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FY27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売上高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2,387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4,424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7,453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10,647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861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2,384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4,729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7,349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36.07%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53.89%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63.45%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69.02%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純利益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575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1,592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3,158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4,908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単位: 百万円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PER感応度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ワーストでも株価4.43倍 — コホートの自然な厚みが効く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シナリオ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PER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株価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倍率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ベスト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17,546円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5.32倍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ノーマル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27.5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16,084円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4.87倍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ワースト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14,621円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4.43倍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現株価3,300円、25/12予想利益1,007百万円、発行済8.05百万株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目次(Appendixへ)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5️⃣ 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5️⃣ Appendix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A. CA採用計画の根拠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今期+35、来期+40、再来期+40 — 達成可能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手取金(IPO調達)はCA人件費に充当する予定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IR電話: 上記の採用計画を立てている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良い在庫さえあればCAの仕事は簡単、採用力も高い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この採用計画は難なく達成しそう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IR電話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B. 一人当たり売上高の根拠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入社1年目900万→2年目4.7倍→3年目7.99倍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目論見書: 入社1年目対比、2年目で4.7倍、3年目で7.99倍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計算上、入社1年目の平均売上高は900万円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増加は一人当たり成約数の伸びによるもので、今後も一定と仮定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一人当たり売上高は成約単価の増加に比例する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目論見書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C. 成約単価の根拠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転職後年収 × 手数料率 で年率+10%級の伸び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成約単価 = 転職後の年収 × 手数料率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転職後年収: インフレ+人手不足で年率5%成長と仮定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手数料率: 35%(従来) → クライアントシフト後40%超(IR)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今後さらに上昇見込み(積極採用企業への送客比率増加)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IR電話、IMF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D. 成約数の構造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CA律速で現状5.7%しか送客できず、伸びしろ膨大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自社PF経由81%(新規80% + 過去DB20%)、外部PF19%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新規履歴書数の5.7%しか送客できていない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新規履歴書数の6-7分の1までいけそう = 伸びしろ膨大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過去DBはそろそろ限度、その分を外部集客に頼るパターンでバリュエーション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