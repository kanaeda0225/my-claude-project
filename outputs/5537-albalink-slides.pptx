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1F4E78"/>
                </a:solidFill>
              </a:rPr>
              <a:t>【5537】AlbaLink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0">
                <a:solidFill>
                  <a:srgbClr val="202020"/>
                </a:solidFill>
              </a:rPr>
              <a:t>推奨：BUY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0">
                <a:solidFill>
                  <a:srgbClr val="202020"/>
                </a:solidFill>
              </a:rPr>
              <a:t>株価：2,200円 → 2,874円(短期) / 4,960円(3年)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0">
                <a:solidFill>
                  <a:srgbClr val="202020"/>
                </a:solidFill>
              </a:rPr>
              <a:t>投資期間：2週間〜3年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808080"/>
                </a:solidFill>
              </a:rPr>
              <a:t>13.0期 西さくら子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空き家対策国策×ボロ戸建ブーム×大量出店 = 28年営利2.8倍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空き家対策特措法改正・相続登記義務化で売却ニーズが構造的に拡大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インフレ・金利上昇・物件高騰でボロ戸建投資に投資家が流入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1人粗利6,104万円を維持したまま19→47都道府県へ大量出店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26/12 営利1.34倍、28/12 営利2.8倍に成長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出典: AlbaLink IR、カチタスIR、空き家対策特別措置法、相続登記義務化資料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1人粗利 × 店舗数 × 店舗あたり営業人数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397764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売上総利益 = 営業1人当たり売上総利益 × 営業人数
営業人数 = 1店舗あたり営業人数 × 店舗数
別の見方(検算用):
売上総利益 = 販売単価×販売件数
             + 有料引き取り代金×有料引き取り件数
             - 仕入単価×仕入件数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営業1人あたり粗利の業界比較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圧倒的に稼げる仕組み = 1人粗利6,104万円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会社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事業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1人売上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1人粗利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M&amp;A総研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M&amp;Aアドバイザー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4,270万円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76.6%粗利率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ベイカレント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コンサル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2,692万円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1,249万円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ランドネット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中古マンション買取再販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23,412万円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3,707万円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AlbaLink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空き家買取再販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13,687万円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6,104万円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出典: 2024年12月期実績ベース。給与は1人731万円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因数分解：各因数の方向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店舗数が伸びる、1人粗利は維持できる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因数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なぜ動くか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店舗数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19→49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26/12に+10店、28/12に47都道府県、その後継続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1店舗あたり営業人数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4.0 固定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支店長1+営業4+営業事務1=6人構成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1人粗利(半期)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70百万円 維持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リード数×成約率×1件粗利の積で維持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粗利率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45→60%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三為取引比率の上昇、規模の経済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固定費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出店比例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出店ごとに支店経費が増える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1️⃣ 基本情報</a:t>
            </a:r>
          </a:p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2️⃣ マクロ</a:t>
            </a:r>
          </a:p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3️⃣ ミクロ</a:t>
            </a:r>
          </a:p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4️⃣ 大量出店検証</a:t>
            </a:r>
          </a:p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5️⃣ バリュエーション</a:t>
            </a:r>
          </a:p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6️⃣ Appendix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会社の概要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空き家等の訳あり物件の買取再販、19支店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銘柄コード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5537 (東証グロース)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主事業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空き家等の訳あり物件の買取再販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店舗数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19支店 (2025年末)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平均販売単価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381万円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平均仕入単価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235万円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1件あたり粗利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188万円 (2025年上期)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平均年収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731万円 (不動産業界平均495万円)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事業内容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売主・買主双方から対価を得るユニークなモデル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(主) 訳あり物件を仕入れて空き家投資家に売る不動産関連事業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(副) お金を払ってでも手放したい売主からコンサル料を受ける + 10円で買取して売却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売主・買主双方から対価を得るビジネスモデル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空き家は宝の山!!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1件粗利188万円 ≒ 2,900万円物件の両手仲介手数料上限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平均販売単価381万円 / 平均仕入単価235万円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1件あたり粗利は2025年上期188万円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= 2,900万円物件を両手仲介した時の仲介手数料上限価格と同等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空き家買取再販は1件あたりの利益が大きい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売り手は他社では売れない空き家の持ち主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固定資産税・倒壊リスク・管理費を背負った人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固定資産税がかかり、空き巣・火災・倒壊で訴訟リスクも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管理費・維持費もかかる、買って住みたい人もほぼいない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訴訟リスク高 + 手数料安 で一般不動産屋は積極的に扱わない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AlbaLinkは自社サイト・広告・自治体経由で集客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買い手はボロ戸建投資家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リピート33.9% = 少額・高利回りで再現性あり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賃貸運用の投資目的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76.4%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リピート購入率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33.9%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ボロ戸建投資とは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少額・融資不要・高利回り(20-50%)・自分でコントロール可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築古戸建を購入、DIY/外注リフォーム後に貸して賃料収入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利回り20-50%、100万円もいらない少額で開始可能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SNS/YouTubeで手法を学べる(副業層が参入しやすい)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例: 150万円購入→月22万円賃料で利回り30%超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ボロ戸建(100万円)に行ってみた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現地調査: かなり老朽化、セルフ内見、6日で売れた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448495" cy="3794760"/>
          </a:xfrm>
          <a:prstGeom prst="rect">
            <a:avLst/>
          </a:prstGeom>
          <a:solidFill>
            <a:srgbClr val="FAFAFA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/>
            <a:r>
              <a:rPr sz="2800" b="1">
                <a:solidFill>
                  <a:srgbClr val="666666"/>
                </a:solidFill>
              </a:rPr>
              <a:t>[ 画像 ]</a:t>
            </a:r>
          </a:p>
          <a:p>
            <a:pPr algn="ctr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
AlbaLinkの不動産投資の森LINE経由で内見したボロ戸建の写真。
外観 + 室内の様子。営業同行なしのセルフ内見の様子。
サイズ目安: 横6inch × 縦3.5inch 程度を 2-3枚 並べる。
ソース: 発表者本人撮影 (現地調査時のもの)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
押さなくても売れていく仕組みの実例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▶ 2️⃣ マクロ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2️⃣ マクロ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空き家は巨大市場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使われていない空き家385万戸 → 2030年に約470万戸へ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使われていない空き家(賃貸用・売却用・二次的住宅を除く)は現在385万戸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2030年には約470万戸まで増加見込み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市場が十分広く、投資期間中は枯渇しない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空き家対策は国策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特措法改正と相続登記義務化が売却インセンティブを増やす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①2023年12月: 空き家対策特別措置法改正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  「管理不全空き家」区分新設 → 住宅用地特例(固定資産税1/6など)が外れる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②2024年4月: 相続登記の義務化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  原則3年以内に登記必須、放置すると罰則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所有者は空き家に向き合わざるを得ない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ボロ戸建投資が熱い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戸建反響率+4.0% = 供給増を上回るペースで需要拡大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大手不動産投資サイトの戸建物件登録数は約24.6%増加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それを上回るペースで問い合わせが増え、反響率は前年比+4.0%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金利上昇・物件高騰で 一棟物 → 戸建 へのシフトが起きている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▶ 3️⃣ 仕組みの強み・競合優位性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3️⃣ 仕組みの強み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①効率的に売り手の集客: 反響営業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広告・自社メディアから営業1人月35件のリード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他社: テレアポ・ポスティング・飛び込み営業中心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AlbaLink: 広告・自社メディアからリードを集客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営業1人1月あたり35件のリードが入る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広告費でリード数を調整、売る気のある顧客に集中できる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②資金効率: 三為取引8割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買取再販の粗利 × 仲介のCF軽さ を両取り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三為取引: 売主→買主に直接登記、業者を経由しない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通常買取再販と違いBSに在庫を抱えない(手付金10%のみ必要)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登記の登録免許税・司法書士報酬も削減 → 粗利増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AlbaLinkは売上の8割が三為取引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なぜAlbaLinkは三為取引ができるのか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不動産投資の森 + セルフ内見 + 電子契約 で短期で買主発見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三為取引は猶予期間内に買主が見つけられる業者のみ可能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AlbaLinkは45-60日の猶予を設定、見つからなければ自社で買取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不動産投資の森(6,104人会員)、セルフ内見、電子契約で素早く買主発見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他社が模倣しづらいオペレーション(IR)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出典: IR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③安く買える3つの理由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直接査定 + 空き家投資家向け査定 + インセンティブ設計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反響の大半が直接査定 → 他社と比較されず安く提示できる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空き家投資家向け査定(家賃・利回り・リフォーム逆算)で従来法で値付け不能な物件も買える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3万件の査定データで査定ノウハウが強い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個人別粗利ベースのインセンティブ → 安く買って高く売る動機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④高く売れる: 二段構え集客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不動産投資の森 → 楽待/健美家 の順で売る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不動産投資の森で会員に先行公開、6,000人にLINEで一斉配信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「他の投資家にすぐ売れる」と思わせる構造で素早い高い指値を誘発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売れなければ楽待・健美家など他社サイトに掲載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販売件数/仕入件数比率は5期連続で96-99% = 異常に高い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⑤経費削減: マーケ内製化 + DX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社長元アフィリエイト + セルフ内見 + 電子契約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経営陣にインターネット集客の専門家が集結、マーケ内製化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広告費削減、PDCA高速化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キーボックスでセルフ内見、内見同行人件費を削減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電子契約で人件費削減、コールセンター・査定bot自動化を推進中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競合優位性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信頼性・知名度・成約率で他の空き家買取再販を引き離す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①自治体連携22 → 固定資産税通知と一緒に資料送付などで信頼性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②全国展開19店舗 → 同業他社は4-5店、規模が桁違い、出店地域で成約率+31%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③ブランド毀損領域 → 大手が参入しづらい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(その他、自社メディア・不動産投資の森・DXなどは前述)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競合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居住者向け vs 投資家向けで棲み分け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会社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特徴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カチタス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中古物件→居住者向け再販、平均仕入505/販売1,573万円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ネクスウィル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ワケガイで集客、東京本社+大阪/福岡/名古屋の3支店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目次(大量出店)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▶ 4️⃣ 大量出店検証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4️⃣ 大量出店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証明したい4つのこと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採用 / 教育 / 売り手 / 買い手 が量的に間に合うか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①採用: 給与高い(731万円 vs 業界495万円)、月500人応募/10人内定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②教育: 資料900枚・200時間研修、1-3ヶ月で独り立ち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③売り手リード: 広告費でリード数を増やせる(IR)、地方も足りる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④買い手: 不動産投資の森+他社サイト二段構え、潜在投資家1,600万人中12.6%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営業1人粗利の維持理由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リード数 × 成約率 × 1件粗利 のすべてが維持 or 上昇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要素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理由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1人あたりリード数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維持+α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広告費で調整可、DXで1.1-1.4倍に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成約率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地方出店で上昇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出店地域の成約率は+31%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1件あたり粗利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維持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地方も販売・仕入価格が連動して下落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出典: IR、5期実績データ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営業人数の積み上げ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店舗6人構成 × 店舗数で営業人数が決まる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店舗数: 19(2025末) → 29 → 39 → 49(年+10店舗ずつ)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2028年に47都道府県を達成、その後は引き合い強い地域に2-3店目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店舗構成: 支店長1+営業4+営業事務1=6人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1店舗あたり営業人数は4人で固定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▶ 5️⃣ バリュエーション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5️⃣ バリュエーション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売上・利益の推移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営利 553 → 3,344百万円(×6倍)、PERは据置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FY24 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FY25 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FY27 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FY28 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5,440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8,147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16,168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20,574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粗利率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44.6%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55.1%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59.0%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60.0%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1,189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2,521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3,344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10.2%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14.6%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15.6%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16.3%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純利益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768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1,656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2,207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出典: 単位: 百万円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ビジネスモデル近いカチタスPER 20.0 → 据置で妥当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買取再販でビジネスモデルが近いカチタスはPER 20.0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AlbaLinkも近いPER水準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→ PERは据え置きで置く(成長率の倍率で株価上昇)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>
                <a:solidFill>
                  <a:srgbClr val="1F4E78"/>
                </a:solidFill>
              </a:rPr>
              <a:t>▶  ▶ 6️⃣ Appendix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6️⃣ Appendix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A. 投資戦略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2/13決算 → 短期、3年で営利2.8倍 → 中期も狙える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2/13決算の来期予想が強い、株価上昇率は一番高い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年10店舗ずつ増加 → 2028年期まで営利前年比1.3倍以上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成長率が高いためそこまで持っておくのもいい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B. 季節性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2Q・4Qに売上利益が偏重(歩合制度の影響)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半期(1-6月、7-12月)の個人別売上総利益が歩合のため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売上利益が2Q・4Qに偏重する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2024年12月期は粗利の52%、営利の78%を4Qが占める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C. 採用は計画通りいくか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支店長級を厳選、YouTube強化など対策中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若干の遅れあり、原因は支店長級マネジメント人材の厳選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支店長への昇格は平均14ヶ月、最年少25歳と高速育成可能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選考プロセス見直し、エージェント連携強化中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3ヶ月前からYouTubeでの採用強化(キャリアJUMP等)も実施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D. 査定を申し込んでみた(現地調査)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フォーム送信→4時間で電話、最短2週間で買取と提案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日曜13:10 フォーム送信 → 17:07 担当支店から電話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繰り返し: 「思い出の家が朽ちる前に売却を」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鍵を郵送すれば査定不在OK、全てオンラインで売却可能</a:t>
            </a:r>
          </a:p>
          <a:p>
            <a:pPr algn="l">
              <a:lnSpc>
                <a:spcPct val="130000"/>
              </a:lnSpc>
            </a:pPr>
            <a:r>
              <a:rPr sz="1800">
                <a:solidFill>
                  <a:srgbClr val="202020"/>
                </a:solidFill>
              </a:rPr>
              <a:t>•  電話の雰囲気がいい、良いかんじに押してくる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8"/>
                </a:solidFill>
              </a:rPr>
              <a:t>E. 物件購入の流れ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直接会わなくても完結する仕組み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397764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① 不動産投資の森にLINE登録: 物件情報が配信される
② 気に入った物件名をLINEで送信
③ 担当支店から物件資料・内見フォームがLINEで届く
④ 内見フォームに必要情報(身分証提出)
⑤ キーボックスの解錠番号がLINEに届く
⑥ セルフ内見(質問は電話・チャットで即対応)
⑦ 買付申込書提出 (LINE/メール/FAX)
⑧ 社内稟議で購入者決定
⑨ 契約書・重要事項説明(オンライン)
⑩ 決済(銀行振込)・引き渡し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