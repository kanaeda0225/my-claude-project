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F4E78"/>
                </a:solidFill>
              </a:rPr>
              <a:t>【5186】ニッタ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推奨：BUY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持分法CMPパッド世界66%、BSPDN×2nm量産で工程数2倍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目標株価7,956円(Base、現在比+47%)・投資期間：中期(2026下期〜2027)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</a:rPr>
              <a:t>瀧本ゼミ 発表者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BSPDN×2nm量産でCMP工程数が約2倍、その独占的恩恵を受ける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CMPパッド世界シェア66%のニッタ・デュポン(NDI)を持分法で50%保有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BSPDN(裏面給電)×先端ノードでCMP工程数が28nm:12-15→2nm:25ステップに増加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市場CAGR +7.5%に対しNDI売上はα超過で+10〜14%成長見込み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市場は「ゴム製品セクター」評価でPER 10倍、半導体材料企業としての実態が未認識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FY3/28 EPS 568円×PER 14倍 = 目標株価 7,956円 (現在比+47%)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決算説明資料(2026/5)、yuho(2025/3期)、SemiEngineering、Mordor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発表を理解するための地図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マクロ → ミクロ → バリュエーション の3つの問い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① なぜ「今」CMPパッド需要が構造的に増えるのか? (マクロ)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② なぜ「ニッタ・デュポン」がその恩恵を独占的に受けるのか? (ミクロ)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③ なぜ「ゴム製品PER」のままで割安なのか? (バリュエーション)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ウェハ枚数 × CMPステップ数 × ASPミックス × シェア = NDI売上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NDI(ニッタ・デュポン)売上
  ∝ 半導体ウェハ生産量 × CMPステップ数/ウェハ × 先端品ASPミックス × シェア
市場が見ている: 「CMPパッド世界市場 CAGR +7.5% (Mordor Intelligence)」
                   ← ウェハ枚数増しか捉えていない
実際: BSPDN/GAA量産で CMPステップ数が約2倍 → 員数α(+4〜6%/年)が乗る
      先端品ASP上昇(+2〜3%) も乗る
→ NDI売上 推計 CAGR +10〜14% (市場CAGRを大幅にoutperform)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因数分解：各因数の方向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員数増(BSPDN) × ASP上昇 × シェア維持 = α超過の源泉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因数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方向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なぜ動くか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半導体ウェハ生産量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+3〜5%/年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AI需要・先端ノード比率上昇のマクロトレンド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CMPステップ数/ウェハ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約2倍 (28nm→2nm)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BSPDN裏面給電+GAAでCMP工程が増加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先端品ASPミックス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↑ +2〜3%/年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IC1000 → Ikonic/Emblem 世代交代、単価1.5〜2倍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シェア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→ 横ばい〜+1%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世界シェア66%、先端ノードでの認定優位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SemiEngineering、SemiAnalysis、Mordor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なぜ市場が気づいていないか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持分法という会計構造が「半導体材料企業」の実態を覆い隠す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観点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現状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業種分類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東証プライム「ゴム製品」セクター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連結P&amp;Lでの表示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売上918億の連結に半導体材料売上が出てこない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持分法の見え方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営業外収益の1行 (持分法投資利益)、内訳開示はQごとIRのみ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市場のPER水準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10〜11倍 (ゴム製品セクター並、半導体材料企業の半値)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1️⃣ 基本情報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2️⃣ マクロ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3️⃣ ミクロ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4️⃣ バリュエーション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5️⃣ Appendix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会社の概要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1885年創業、表面はゴム製品メーカー、利益エンジンは半導体材料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銘柄コード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5186 (東証プライム・ゴム製品)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創業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1885年(明治18年)、製革業から140年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主事業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ベルト・ゴム製品、ホース・チューブ、化工品、CMPパッド(持分法)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時価総額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約1,500億円 (株価5,400円想定)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PER (FY3/26実績ベース)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11.1倍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0.76〜0.93倍 (BPS 5,540円)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自己資本比率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85.3% (実質無借金)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配当利回り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約3.7%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yuho 2025/3期、決算説明資料 2026/5発表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直近業績(FY3/26 通期実績)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営業利益58.6億 vs 経常利益148億 — 差額90億の正体が核心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FY3/25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FY3/26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前年比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903億円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918億円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+1.7%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51.6億円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58.6億円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+13.7%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経常利益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146億円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148億円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+1.4%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うち持分法投資利益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87億円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86億円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ほぼ横ばい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親会社株主帰属純利益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121億円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135億円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+11.5%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 2026年5月8日発表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(補足) 持分法投資利益とは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関連会社(20-50%出資)の利益を持分比率で連結利益に取り込む方式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20〜50%出資の関連会社は連結子会社にせず「持分法」で会計処理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関連会社の純利益 × 出資比率 が 営業外収益「持分法投資利益」に計上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連結P&amp;Lには関連会社の売上・原価は出てこず、純利益分だけが1行に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ニッタは50%出資の合弁2社(NDI、GUA)を持分法で計上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ビジネスモデルの全体像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表面は5事業、実態は持分法2合弁が経常利益の60%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ニッタ㈱ (5186)
 │
 ├─ 連結事業 (売上918億・営業利益58.6億)
 │   ├─ ベルト・ゴム製品 (物流業界向けが堅調)
 │   ├─ ホース・チューブ製品 (半導体製造装置向け回復)
 │   ├─ 化工品 (半導体クリーンルーム空調等)
 │   └─ その他産業用・不動産・経営指導
 │
 └─ 持分法適用 2合弁 (持分法利益 86億 = 経常利益の60%)  ← 投資テーゼの核心
     ├─ NDI (ニッタ・デュポン): 半導体CMPパッド世界シェア66%、50%出資
     └─ GUA (ゲイツユニッタアジア): 自動車・産業向けタイミングベルト、50%出資
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そもそもCMPパッドとは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半導体ウェハを「鏡面化」する研磨工程の必須消耗材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半導体製造の流れ(ざっくり)
  シリコンウェハ → 配線層を積み重ねる → 各層の表面を平らに磨く ← ここでCMP
[CMP = Chemical Mechanical Polishing 化学機械研磨]
  ┌────────────┐
  │ ウェハ     │
  ├────────────┤  ← この間に CMPパッド(消耗材)とスラリー(研磨液)
  │ CMPパッド  │
  └────────────┘
  圧力をかけながら回転 → ナノメートル単位で表面を平らに
→ CMPパッドは「消耗材」、量産が走ると使い続ける、ハイマージン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CMPパッドの市場ポジション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ニッタ・デュポンのIC1000は1980年代からの業界デファクト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世界市場規模: 約46.5億ドル (約7,000億円、2026年予測)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ニッタ・デュポンの世界シェア: 約66%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主力製品 IC1000: 1980年代からの業界デファクト標準、40年超の実績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競合: 富士紡HD(国内2位)、SK Enpulse(韓国)、湖北鼎龍(中国)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Mordor Intelligence (2026)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2️⃣ マクロ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2️⃣ マクロ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マクロ全体の流れ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BSPDN+GAAでCMP工程数2倍、2026年が量産変曲点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[今起きていること]
半導体微細化が3D化フェーズへ → 各層を平らにするCMP工程が爆発的に増加
[2026年の最大イベント]
TSMC N2P/A16・Samsung SF2P・Intel 18A が量産開始 → BSPDN世代の幕開け
[なぜ材料需要が桁違いか]
1ウェハあたりCMPステップ数: 28nm 12-15 → 2nm 約25ステップ = 約2倍
→ ウェハ枚数とは独立に「員数α」がCMPパッド需要を底上げ
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ノード世代別CMPステップ数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28nm→2nmで1ウェハあたりCMP消費量が約2倍に増加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ノード世代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CMPステップ数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備考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28nm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12〜15ステップ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従来型フロントエンドのみ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3nm (GAA)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最大22ステップ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Gate-All-Aroundで増加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2nm (BSPDN)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約25ステップ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裏面給電で表面+裏面の両方にCMP追加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SemiEngineering: Backside Power Delivery at 2nm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(補足) BSPDNとは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Backside Power Delivery Network = 裏面給電、配線革命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従来: ウェハ表面に信号配線と電源配線を全部詰め込んでいた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BSPDN: 電源配線をウェハ裏面に移動、表面は信号配線専用に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配線密度を緩和し性能/消費電力を改善、ただし裏面の薄化+配線形成が必要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新規CMP工程(裏面薄化+裏面配線)が複数追加、パッド需要を押し上げ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Intel PowerVia、TSMC Super Power Rail、Samsung BSPDN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量産ノードの本格立ち上がり(2026年が変曲点)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3社のBSPDN量産が同時期に始まり、CMPパッド需要が一気に加速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ファウンドリ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ノード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BSPDN実装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量産時期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Intel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18A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PowerVia(BSPDN第一号)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2025年ランプ中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TSMC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N2P / A16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Super Power Rail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2026年下期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Samsung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SF2P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BSPDN対応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SemiAnalysis: Clash of the Foundries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CMPパッド世界市場の成長率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市場CAGR +7.55%、メモリ向けは+8.65%とさらに高成長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2026年市場規模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約46.5億ドル(約7,000億円)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2031年予測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66.8億ドル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市場CAGR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+7.55% (2026-2031)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先端ロジック向け比率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約35%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メモリ向けCAGR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+8.65% (HBM大容量化・3D NAND高層化が牽引)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Mordor Intelligence CMP Pad Market 2031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マクロにおける非自明な洞察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ウェハ枚数CAGRと独立に効く員数αで市場を上回る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[市場コンセンサスの見方]
  半導体材料の成長 = ウェハ枚数CAGR × 単価
                   = +3〜5%/年    × 横ばい  ≒ 半導体WFE並
[実際に起きていること]
  CMPパッド需要 = ウェハ枚数 × CMPステップ数 × ASPミックス × シェア
                                ↑
                BSPDN・GAA・先端パッケージで1ウェハあたり消費量自体が急増
                = ウェハ枚数CAGRとは独立に乗る員数α
→ CMPパッド売上は 半導体WFE伸長率を上回るスピードで成長
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3️⃣ ミクロ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3️⃣ ミクロ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ニッタ・デュポンのMoat分析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スイッチングコスト ★5、無形資産 ★5 = 先端ノードでの参入障壁は極めて高い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Moat要因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強さ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根拠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スイッチングコスト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★★★★★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CMPパッド変更は歩留り直結、認定変更に数ヶ月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無形資産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★★★★★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1980年代CMP黎明期から40年超のレシピ、IC1000業界デファクト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コスト優位性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★★★★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世界シェア66%による規模の経済、原料の大量購買力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ネットワーク効果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★★★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スラリー・コンディショナー・装置ベンダーとの共同認定エコ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Moat①: スイッチングコストの本質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先端ノードでの認定変更は事実上「許容できない」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CMPパッド変更プロセス
  → 新パッドの単体評価(研磨レート・均一性)        : 数ヶ月
  → デバイス評価(歩留・電気特性への影響)          : 数ヶ月〜1年
  → 量産試験(数千ウェハ規模での再現性)            : 数ヶ月
  → 量産投入
                                合計: 最短でも 半年〜1年
先端ノード(2nm以下)では:
  歩留が1%低下 = 量産工場の利益が数十億円単位で吹き飛ぶ
  → 既に量産で実績ある IC1000 を切り替えるインセンティブは事実上ゼロ
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Moat②: 40年超の無形資産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1980年代から積み上げたレシピ・歩留改善ノウハウ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CMPパッドは「ポリウレタン発泡+研磨粒子」の組み合わせの最適化が肝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発泡密度・気孔分布・硬度の組み合わせは数千通りあり、最適解は経験則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IC1000は40年超の量産実績、各ファウンドリの各ノードでチューニング済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後発が同等品質を出すまでに10年単位の試行錯誤が必要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変曲点に関する個別ニュース(時系列)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FY3/26決算 → Qnity独立 → BSPDN量産の3カタリストが連鎖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2025年11月 → Qnity Electronics 独立上場                  ← 合弁相手が半導体専業に
             DuPont電子材料部門が分社、SEC 10-12B/A提出
2025年〜   → Intel 18A(PowerVia/BSPDN第一号)が量産ランプ
2026年5月 → ニッタ FY3/26決算: 売上・利益とも過去最高更新  ← 今ここ
             営業58.6億 vs 経常148億、持分法90億が利益過半
2026年下期 → TSMC N2P/A16 量産開始 (BSPDN本格化)
2026年中   → Samsung SF2P 量産開始 (BSPDN本格化)
2026-2027年 → Qnity「Emblem」次世代パッド量産採用 (ASP上昇カタリスト)
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変曲点①: Qnity Electronics 独立上場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2025年11月、合弁相手が半導体専業の上場企業に進化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DuPontの電子材料事業が「Qnity Electronics」として独立上場(2025/11/1)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合弁相手が半導体専業 → 合弁の戦略優先度・R&amp;D投資意思決定が加速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Qnity独立直後に次世代CMPパッド「Emblem」プラットフォームを発表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ASP上昇カタリスト + 設備投資加速の素地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Qnity Electronics SEC Filing (10-12B/A)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変曲点②: FY3/26決算で過去最高更新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売上918億+1.7%、純利益135億+11.5%、持分法が利益エンジン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連結売上918億(+1.7%)、営業利益58.6億(+13.7%)、純利益135億(+11.5%)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経常利益148億のうち約60%が持分法投資利益(86億)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決算説明資料で「ニッタ・デュポンが半導体業界の活況により好調」と明記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既にBSPDN先行需要の兆候が業績に表れ始めている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ニッタ 2026年3月期決算(2026年5月8日発表)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持分法投資利益の中身(重要発見)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持分法90億は半導体だけではない、NDI(半導体)とGUA(自動車)が半々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内訳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FY3/25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FY3/26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業界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NDI(ニッタ・デュポン)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40.1億円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45.1億円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半導体研磨パッド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GUA(ゲイツユニッタアジア)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47.2億円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42.6億円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自動車・産業向けベルト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その他(GNB等)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△0.6億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△1.8億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合計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86.7億円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85.9億円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 P.10〜11 四半期推移より合算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「経常利益の60%が半導体」は半分正しい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持分法90億のうち半導体由来は約45億 = 経常利益の30%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ストーリーで強調される「持分法90億がほぼデュポン」は実態と差異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NDI(半導体)は45億 = 経常利益148億の約30%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GUA(自動車・産業)は43億 = 同じく約30%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それでも「ゴム製品評価PER10倍」は半導体材料の30%寄与を割引しすぎ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なぜNDIはマクロをoutperformするか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員数増(BSPDN) × ASP上昇 × シェア維持で市場+7.5%を+10〜14%に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αタイプ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ニッタ・デュポンでの該当事象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員数増加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28nm:12-15→2nm:25ステップ、CMP消費量が約2倍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ASP上昇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IC1000→Ikonic/Emblem世代交代、先端品単価1.5〜2倍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シェア維持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2nmでのIC1000採用継続、競合の参入障壁極めて高い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用途拡大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BSPDN特有の裏面薄化+裏面配線CMPが新規パッド消費源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NDI売上 推計CAGR +10〜14% (Bear〜Bull)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4️⃣ バリュエーション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4️⃣ バリュエーション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現在の株価水準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PER 11倍は富士紡HD(15-20倍)の半値、ゴム製品評価のまま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読み方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株価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5,400円想定(年初来高値圏)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1月安値4,000円から+35%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時価総額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約1,500億円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中型株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PER (FY3/26実績)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11.1倍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ゴム製品セクター並み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0.76〜0.93倍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BPS 5,540円、純資産割れ水準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配当利回り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約3.7%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DOE 2.5%以上が中計目標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ROE (FY3/26予)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約7.5%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中計目標 事業ROIC 7.0%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yuho 2025/3期、IRBANK、決算説明資料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なぜ「ゴム製品」評価のままなのか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持分法構造が半導体材料企業としての実態を隠蔽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東証セクター分類が「ゴム製品」 → スクリーニングで半導体投資家の視野外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連結P&amp;Lには半導体材料売上が出てこない → 「ホース・ベルトの会社」と映る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持分法利益は営業外収益の1行に集約、内訳開示はQごとIR資料のみ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アナリストカバレッジが薄く、機関投資家の再評価が遅れている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バリュエーション・ロジック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EPS568円 × PER 14倍 = 7,956円、リレーティング余地+47%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FY3/28 純利益 (Base): 158億円  ← markdown 4-3シナリオ表より
  ÷ 期中平均株式数 27,800千株 (自己株式控除後、yuho基準)
  = EPS 568円
想定PER 14倍 (Base) — 過去レンジ10-15倍の上限近辺、半導体材料企業の半値
  × 568円
  = 目標株価 7,956円
現在株価 5,400円 → 目標 7,956円 = 上昇余地 +47%
(markdown表記 7,350円は古い分母30,272千株で計算した値、本シートでは+8%上方)
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シナリオ別 目標株価 (FY3/28)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Bear ±0% / Base +47% / Bull +92%、下値限定×上値大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シナリオ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EPS(円)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想定PER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目標株価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現在株価比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Bear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486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12倍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5,832円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+8%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Base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568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7,956円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+47%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Bull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648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10,368円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+92%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自己株式控除後27,800千株ベース。詳細はバリュエーションシート参照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「織り込み済み?」反論ブロック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時価総額据置でも純利益増だけでPERは11倍→9.5倍に低下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もし現在株価が「すべての成長を織り込み済み」なら、PERは低下しない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実際: 時価総額1,500億を全年度固定し、純利益135→158億(Base)で割ると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FY3/26 PER 11.1倍 → FY3/28 PER 9.5倍 まで機械的に低下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「9.5倍が正当な水準」なら時価総額には大幅な過小評価が残っている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ピア比較 (PER)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ビジネスモデル類似(富士紡)とリレーティング先(東京応化)で挟む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銘柄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推定PER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選定軸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ニッタ (5186) 現状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11.1倍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富士紡HD (3104)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約18倍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ビジネスモデル類似(CMPパッド国内2位)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バンドー化学 (5195)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約10倍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業態類似(ゴム製品セクター・ベルト主力)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東京応化 (4186)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約20〜22倍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リレーティング先(半導体材料企業)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ピア企業PERは指標的水準、実数値は要IR確認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PER感応度の捉え方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Base PER 14倍は過去レンジ上限、強気でも富士紡水準で保守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ニッタ過去PERレンジ: 10〜15倍(IRBANK 2010-2026)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Base 14倍はその上限近辺、過大ではない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半導体材料セクター平均 15〜20倍(東京応化・富士紡HD等)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Base 14倍はリレーティング途上の値、Bull 16倍でも富士紡HDの下限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IRBANK PER推移、富士紡HD IR、東京応化IR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5️⃣ Appendix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5️⃣ Appendix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A. カタリスト一覧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2026下期-2027年に上昇要因が連鎖、四半期ごとに業績で確認可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カタリスト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予想時期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業績インパクト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TSMC N2P/A16 量産開始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2026年下期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NDI売上加速の本格化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Samsung SF2P 量産開始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顧客ベース拡大、パッド需要増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Qnity「Emblem」量産採用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2026〜2027年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ASP上昇、利益率改善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ニッタ FY3/27 四半期決算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四半期ごと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持分法利益増のトラッキング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自社株買い・政策保有株削減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SHIFT2030期間中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PBR改善カタリスト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リスク① 合弁ガバナンス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ニッタ・デュポンは50:50合弁、Qnityとの主導権争いリスク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NDIは50:50合弁、ニッタ単独で意思決定ができない構造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Qnity独立で半導体専業化 → 加速メリットの一方で意見対立リスクも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合弁契約の更新条件は要IR確認(公開情報なし)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合弁解消リスクが顕在化した場合は即時撤退基準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リスク② 競合シェア侵食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富士紡・SK Enpulse・湖北鼎龍がシェア拡大狙い、特に中国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富士紡HD(国内2位)が先端ノードで認定獲得を狙う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SK Enpulse(韓国)、湖北鼎龍(中国)もシェア拡大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中国国産化の流れは長期的リスク(短期では先端ノードで切替困難)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四半期ごとのIR資料で先端ノード認定状況を確認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リスク③ 半導体サイクル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在庫調整局面ではファウンドリ稼働率低下、パッド消費減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半導体市場はシクリカル、過去にも在庫調整による減速局面あり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ただしBSPDNは構造変化、シクリカル要因とは別軸で効く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Bearシナリオ(NDI売上+5%)はサイクル悪化局面を想定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上値リスクではなく時期がズレるだけの可能性が高い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B. リスク④ 持分法構造の開示限界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NDI単体の詳細業績は連結P&amp;Lに現れず、投資家分析に限界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NDIの売上・原価・販管費は yuho にも公開されない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四半期推移と関連会社合算財務情報(yuho)から逆算的な推定のみ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サプライズが起きにくい反面、業績アップサイドの早期把握も困難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Qnity Electronicsの開示(SEC 10-Q等)で間接確認が可能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C. 想定質問への回答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3つの代表的な疑問に対する回答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想定質問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回答(要約)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連結売上伸びてないのに買い?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本質は連結売上ではなく持分法利益(経常の60%)。経常・純利益の成長を見るべき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PER 14倍は楽観的?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過去レンジ上限、富士紡HD(15-20倍)の半値水準。リレーティング進まなくてもBear限定的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合弁相手Qnityの主導権リスクは?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合弁50:50で共同経営。Qnity独立で意思決定加速メリット。契約詳細は要IR確認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D. SHIFT2030 フェーズ2 目標 (FY3/28)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売上1,150億・営業利益率7.0%、Base想定は会社目標を一部上回り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FY3/25実績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FY3/28 会社目標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Base想定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902億円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1,150億円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962億円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5.7%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7.8%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事業ROIC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7.0%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新製品売上比率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7.1%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海外売上高 (2021年比)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ニッタ SHIFT2030 中長期経営計画 / yuho 2025/3期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E. 売却基準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Base到達で半分利確、合弁リスク顕在化で即時撤退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Base到達時(株価7,000〜8,000円圏)で半分利確を検討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持分法利益が期待を下回る四半期が2期連続した場合は見直し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合弁解消リスクが顕在化した場合は即時撤退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Qnity Electronicsのガイダンス・特に大幅下方修正は要注意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F. 情報源一覧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一次情報(yuho・決算説明資料・SEC)を中心に二次情報で補強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ニッタ yuho 2025/3期、決算説明資料 2026年5月発表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Qnity Electronics SEC Filing (10-12B/A、2025年11月)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Mordor Intelligence CMP Pad Market 2031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SemiEngineering: Backside Power Delivery、SemiAnalysis: Clash of the Foundries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