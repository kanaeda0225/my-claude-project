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7295" cy="1463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5400" b="1" i="0">
                <a:solidFill>
                  <a:srgbClr val="1F4E78"/>
                </a:solidFill>
              </a:rPr>
              <a:t>【3939】カナミックネットワーク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9319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推奨：BUY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目標株価：760円 (Bull 1,197円 / Bear 454円)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投資期間：FY2028 (2028年9月期) 通期決算まで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600" b="0" i="0">
                <a:solidFill>
                  <a:srgbClr val="202020"/>
                </a:solidFill>
              </a:rPr>
              <a:t>現値：550円 (2026年5月13日終値)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4360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1800" b="0" i="0">
                <a:solidFill>
                  <a:srgbClr val="808080"/>
                </a:solidFill>
              </a:rPr>
              <a:t>瀧本ゼミ 2026年5月19日発表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ストーリー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AI課金 × 2027年介護報酬改定 × 介護情報基盤稼働 — 3つの変化が2026-27に同時収束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FY2026開始のAI課金で既存22万有料IDのARPUが階段上昇開始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「介護ソフトの中小SaaS」ではなく自治体ネットワーク型プラットフォーム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2027年改定でテクノロジー導入が「先進」から「前提」へ格上げ予定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介護情報基盤(2026年4月稼働)のコンセプトと機能的に重なるポジション確立済み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FY28 Base EPS 40円 × PER 19倍 → 目標株価 760円 (現値550円比 +38%)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2025年9月期決算短信、決算説明資料(2026年5月13日)、厚労省介護情報基盤資料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成長を因数分解する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SaaS型: 有料ID × 月額ARPU × 12 + 健康寿命延伸 + ソリューション開発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連結売上 = クラウドPF事業売上 + 健康寿命延伸事業 + ソリューション開発
クラウドPF事業売上 = 有料ユーザーID数 × 月額ARPU × 12ヶ月
                                ↑
                  ここがAI課金で階段上昇する変曲点
営業利益 = 連結売上 × 連結OPM
           (AI課金の限界利益率 ≈ 100% → OPM拡大)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因数分解：各因数の方向と感度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採用獲得コスト≒0のクロスセル(AI課金)が最大ドライバー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因数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FY25→FY28 Base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なぜ動くか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有料ユーザーID数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22万 → 28万 (CAGR +9%)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自治体経由の面展開、2027年改定でICT加算強化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月額ARPU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1,500円 → 1,850円 (+23%)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AI機能アドオン(浸透率 25-30%) でブレンド単価上昇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健康寿命延伸事業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11.9億 → 16億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アーバンフィット24店舗→36店舗+既存店利用増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連結OPM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29.2% → 34.0%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AI課金の限界利益≒100%、M&amp;A子会社PMI完了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ストーリーmd 4-2節、決算説明資料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なぜ市場が気づいていないか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市場は「中小SaaS」と認識、3つの構造変化の同時収束を見落とし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市場見方: FY26会社予想(売上63.5億・営利20.5億)を「成長はするが中小SaaS」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見落とし①: AI課金の浸透速度 — 既存22万IDへのクロスセル獲得コスト ≒ 0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見落とし②: 2027年改定でICT導入が「加算要件」化すれば導入率は非線形に加速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見落とし③: カナミックは「事業所内ソフト」ではなく自治体ネットワーク型PF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当方予想: FY28 Base 営利27.5億 — コンセンサスとの差はARPU上昇速度の見立て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ログミーFinance 2025年9月期決算説明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1️⃣ 基本情報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2️⃣ マクロ — 介護DXの不可逆的な制度化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3️⃣ ミクロ — Moatと変曲点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4️⃣ バリュエーション — シナリオ別目標株価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5️⃣ Appendix — カタリスト・リスク・想定Q&amp;A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1️⃣ 基本情報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会社の概要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自治体ネットワークに組み込まれた介護DXプラットフォーム企業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銘柄コード / 市場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3939 / 東証プライム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主事業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医療・介護・子育てクラウドサービス + プラットフォームサービス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事業セグメント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医療・介護クラウドPF / 健康寿命延伸 / ソリューション開発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主要KPI (FY25)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導入地域1,397 / 有料ID 22万 / 無料ID 11.7万 / 24店舗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決算期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9月期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2025年9月期有価証券報告書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株価・バリュエーション(2026年5月13日時点)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現状PER 19.3倍 — 中小SaaSの典型水準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株価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550円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時価総額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約265億円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発行済株式数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48,132,000株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予想PER (FY26会社予想EPS)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19.3倍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PBR / ROE / 配当利回り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5.9倍 / 29.5% / 1.6%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自己資本比率 (FY25末)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71.1%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Yahoo!ファイナンス、2025年9月期決算短信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業績推移 — 過去3年は売上CAGR+21%・営利CAGR+19%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FY26は会社予想で売上+15%・営利+28%へ加速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FY23実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FY24実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FY25実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FY26予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売上高(億)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50.1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63.5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営業利益(億)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11.0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14.4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16.1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20.5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27.0%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28.7%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29.2%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32.3%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純利益(億)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7.6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9.2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11.1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13.7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EPS (円)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16.08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19.38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23.42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28.46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連結損益計算書、決算説明資料(2026/5/13)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ビジネスモデル — 2層構造のストック収益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自治体・医師会と介護事業者を結ぶプラットフォーム+業務管理SaaSのハイブリッド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1層目: 自治体・医師会向け「地域包括ケア情報共有プラットフォーム」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2層目: 介護事業者向け「介護業務管理システム」(レセプト/記録/計画書作成)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課金: 月額サブスク中心 (有料ユーザー × ARPU × 12)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アーバンフィット24: フィットネスジム運営(リアル店舗+ヘルスケアデータ)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海外: TWM(シンガポール)経由でアジア展開の足がかり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有価証券報告書 事業内容セクション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(補足) 介護情報基盤とは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2026年4月稼働、自治体・利用者・事業所・医療機関を結ぶ全国規模PF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  [自治体]       [利用者・家族]
     │                │
     └────[介護情報基盤]────┘  ← 厚労省主導の全国インフラ
              │                  (健保法改正で2023年法的位置づけ)
     ┌────────┴────────┐
     │                  │
  [介護事業所]      [医療機関]
・全介護ソフトは基盤接続仕様への対応が必須
・国がカードリーダー/改修費の助成金を用意 → ICT導入コスト障壁が低下
・カナミックは既に類似コンセプトのPFを自治体経由で展開済み
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厚生労働省 介護情報基盤について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FY26 2Q決算 — 売上+17.8% / 営利+30.9%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通期予想に対して進捗49%、上方修正余地あり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売上 31.34億 (前年同期+17.8%) / 通期予想63.5億への進捗49.4%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営業利益 10.0億 (前年同期+30.9%) / 進捗48.8%、OPM 31.9%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経常利益 10.1億 / 純利益 6.7億 (前年同期+24.7%)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有料ユーザーID 247,836人(YoY +20.2%) — 12ヶ月で26,014人純増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通期予想は据置だが上振れ進捗、3Q決算(2026/8)が上方修正の山場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 1-4(2026年5月13日発表)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目次(マクロへ)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2️⃣ マクロ — 介護DXの不可逆的な制度化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2️⃣ マクロ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超高齢社会×介護人材不足×2027年改定の三重奏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ドライバー① 超高齢社会の進行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団塊世代が全員後期高齢者へ、給付費は2040年に倍増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2025年: 団塊世代が全員75歳以上(後期高齢者)に突入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2040年: 85歳以上人口がピーク、高齢化率40%に接近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介護給付費: 2024年度 約12兆円 → 2040年 約25兆円(厚労省推計)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要介護認定者数は今後10〜15年で構造的に増加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景気循環に左右されない構造的な需要拡大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厚生労働省「2040年を見据えた社会保障の将来見通し」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ドライバー② 介護人材の構造的不足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2024年に介護職員数が史上初の減少、2040年に57万人不足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2024年: 介護職員数が史上初の前年比減少に転じた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2040年: 約57万人の不足が見込まれる(厚労省推計)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テクノロジーによる生産性向上は制度の持続可能性に直結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介護DXは「あったら便利」から「無いと回らない」へ変質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ドライバー③ 2027年介護報酬改定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テクノロジー導入が「先進」から「当然の前提」へ格上げ予定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2024年改定で新設「生産性向上推進体制加算」の拡充が議論中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ICT未導入事業所が実質的な減算リスクを負う可能性も指摘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答申は2026年秋〜2027年初、施行は2027年4月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介護ソフトの導入率が非線形に加速し得る構造変化点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介護経営ドットコム 2027年改定解説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介護情報基盤 — 2026年4月稼働開始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国主導の全国DXインフラ、カナミックのコンセプトと機能的に重なる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法的根拠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2023年5月 健康保険法改正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稼働開始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2026年4月1日(準備整った市町村から順次)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全国展開目標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2028年4月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対象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自治体・利用者・介護事業所・医療機関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事業所への影響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全介護ソフトが基盤接続仕様への対応必須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補助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カードリーダー・改修費の助成金あり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厚生労働省 介護情報基盤について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マクロまとめ — 3つの変化が2026-27に同時収束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独立した3テーマではなく1つの構造変化の3つの表れ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      2026年4月          2027年4月           進行中
       │                   │                   │
 [介護情報基盤稼働]  [2027年介護報酬改定]  [AI課金開始]
       │                   │                   │
       └─────────┬─────────┘                   │
                 ▼                              │
         介護DXが「制度化」                      │
                 │                              │
         ICT導入率が非線形に加速      ←─────────┘
                 │
                 ▼
    カナミックの売上が階段的に上昇
    (員数増加 × ARPU上昇 × 用途拡大)
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目次(ミクロへ)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3️⃣ ミクロ — Moatと変曲点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3️⃣ ミクロ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マクロ+5-8%を上回る+15-19%成長の構造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3つのαドライバーで市場成長率の倍速で伸びる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市場成長率: 介護ソフト市場は年+5〜8%で伸びる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α①(員数増加): 自治体経由の面展開、ユーザーCAGR +9%(Base)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α②(ARPU上昇): AI課金アドオン、ARPU CAGR +8%(Base)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α③(用途拡大): 健康寿命延伸/ソリューション拡大、非クラウド +10%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連結売上 CAGR +15〜19% を実現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ストーリーmd 3-1節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Moat分析 — 競合との構造差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「1事業所内ソフト」ではなく「地域全体のプラットフォーム」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比較軸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カナミック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NDソフト/ワイズマン等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ポジション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地域全体の情報共有PF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1事業所内の業務管理ソフト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営業モデル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自治体・医師会経由のトップダウン面展開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個別事業所への直販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スイッチングコスト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極めて高い(自治体NWに組込み)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中程度(データ移行コスト)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データ資産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地域横断の多職種連携データ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事業所内の記録データ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AI活用ポテンシャル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複数事業所・地域データでAI学習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単一事業所データのAI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ストーリーmd 3-2節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変曲点: AI100-Vision の本格開始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2025年6月発表、約1年で100個のAI機能搭載、2026年9月期から課金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2025年6月: 厚労省記者会見室で「介護AISaaS」提供開始を発表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AI機能例: 訪問看護計画書AI自動作成、AI訪問ルート、AI-OCR保険証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FY2026: 課金開始 — 既存22万有料IDへのクロスセル(獲得コスト≒0)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2027年改定で加算要件化されれば「便利」から「必須」へ格上げ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AI限界利益率≒100% → 浸透が進むほどOPMを押し上げ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PRTimes 介護AISaaS発表、カナミックNW AI-OCRリリース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リリース済みAI機能ラインアップ (2026年2-3月)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実務直結型機能を矢継ぎ早にリリース、加算取得手段に格上げ準備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機能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発表時期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用途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AI-OCR 介護保険証読み取り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2026年3月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手入力ゼロ化、入力作業負担削減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AI介護議事録作成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2026年3月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サービス担当者会議の議事録自動生成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AI訪問介護モニタリング作成支援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サ責のモニタリング書類作成支援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かんたんAI訪問ルート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2025年〜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最適訪問経路・タイムスケジュール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AI訪問看護計画書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2025年〜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計画書AI自動作成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 3-3〜3-8(2026年5月13日)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セグメント別の成長見通し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クラウドPF事業が主役、健康寿命延伸とソリューション開発が脇役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医療・介護クラウドPF事業 (FY25 35.8億) — ストック中心、AI課金の主受益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健康寿命延伸事業 (FY25 11.9億) — アーバンフィット24店舗→2030年に40店舗台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ソリューション開発事業 (FY25 7.3億) — Ruby開発+TWM、海外展開の足がかり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FY26 2Q時点: クラウドPF +17.0% / 健康寿命 +29.6% / ソリューション +2.4%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Vision 2035 — FY30に売上100-120億、FY35に200-300億を目標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決算説明資料 1-5、Vision 2035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目次(バリュエーションへ)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4️⃣ バリュエーション — シナリオ別目標株価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4️⃣ バリュエーション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バリュエーション設計の前提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シンプルなSaaS型因数分解 + シナリオ別感応度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投資期間: FY2028 (2028年9月期) 通期決算まで
目標株価 = FY28予想EPS × 想定PER
EPS = 純利益 ÷ 発行済株式数 (48,132千株、自己株なし)
純利益 = 売上 × OPM × (1 - 実効税率30%)
売上 = 有料ID × 月額ARPU × 12 + 健康寿命延伸 + ソリューション
詳細はバリュエーションシート(3939-kanamic-valuation.xlsx)参照
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シナリオ別 FY28 簡易PL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Base目標株価760円(現値+38%)、Bull 1,197円(+118%)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4114800.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74072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FY25実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FY26予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Bear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Base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Bull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有料ユーザー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22万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24万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31万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月額ARPU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1,500円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1,600円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1,560円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1,850円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2,100円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売上高(億)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55.0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63.5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OPM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29.2%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32.3%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30%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34%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営業利益(億)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27.5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37.4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純利益(億)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11.1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13.7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13.7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19.3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26.2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EPS(円)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23.1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28.5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28.4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40.0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54.4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想定PER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16倍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19倍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22倍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目標株価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454円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760円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1,197円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現値550円比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▲17%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+38%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+118%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ストーリーmd 4-2節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PER水準の根拠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プライム情報通信SaaS OPM30%超で18-25倍が相場、過去レンジ14.9-198倍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東証プライム情報通信SaaSでOPM30%超・増益率20%超は PER 18〜25倍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カナミック直近(利益安定成長軌道)は18〜22倍で推移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Bear 16倍: AI課金浸透遅延を反映してディスカウント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Base 19倍: 現状PER水準を維持(中央値)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Bull 22倍: AI浸透確認によるプレミアム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仮定根拠① 有料ユーザー数 Base CAGR +9%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マクロ追い風 + 直近+15%実績に対し保守的設定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数値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介護事業所総数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約21万(厚労省)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ICT導入率 (施設系)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70% — 既に高い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ICT導入率 (居宅系)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40% — 伸びしろ大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直近実績(FY25末)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前年比+15%増ペース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Base設定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CAGR +9% (やや保守)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Bear設定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CAGR +6% (改定弱い場合)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Bull設定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CAGR +12% (2027年改定強い場合)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ストーリーmd 4-4節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仮定根拠② 月額ARPU Base CAGR +8%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AI課金浸透が主因、IR電話での実数値確認は必須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現状ARPU: 約1,500円(FY25)、AI機能アドオン単価 月額500〜1,500円(推定)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Base前提: FY28に浸透率25〜30% → ブレンドARPU+20-25% (CAGR +8%)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Bear: 浸透率10%にとどまる → CAGR +2%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Bull: 浸透率40%以上・単価高め → CAGR +15%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注: AI課金の具体的単価・浸透率は未開示 — IR電話確認推奨項目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仮定根拠③ 連結OPM Base 34%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AI限界利益≒100% + M&amp;A子会社PMI完了で構造的に拡大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FY25実 29.2% → FY26予 32.3% (会社予想)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クラウド単体OPM: 41.8% → 45-46%に改善中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AI課金の限界利益率: ほぼ100%(APIコストは売上比で限定的)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M&amp;A子会社(Ruby開発・TWM・アーバンフィット)のPMI完了で改善フェーズ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Vision 2035: 2030年にOPM 33-35%目標 → FY28 Base 34%は妥当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2025年9月期決算説明、Vision 2035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「織り込み済み?」反論 — 時価総額据置PERの低下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株価550円据置で純利益増 → PERが機械的に低下していく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0728655" cy="4114800"/>
          </a:xfrm>
          <a:prstGeom prst="rect">
            <a:avLst/>
          </a:prstGeom>
          <a:noFill/>
        </p:spPr>
        <p:txBody>
          <a:bodyPr wrap="none" anchor="t" tIns="91440">
            <a:noAutofit/>
          </a:bodyPr>
          <a:lstStyle/>
          <a:p>
            <a:pPr>
              <a:lnSpc>
                <a:spcPct val="120000"/>
              </a:lnSpc>
            </a:pPr>
            <a:r>
              <a:rPr sz="1500">
                <a:solidFill>
                  <a:srgbClr val="202020"/>
                </a:solidFill>
                <a:latin typeface="Courier New"/>
              </a:rPr>
              <a:t>時価総額据置(265億円)シナリオ:
       FY23実   FY25実   FY26予   FY27予   FY28 Base
純利益: 7.6億   11.1億   13.7億   16.6億   19.3億
PER:    34.7x   23.8x    19.3x    15.9x    13.7x
                                          ↑
                                  株価据置なら超割安水準
→ 純利益の成長は現在の株価に織込まれていない
→ 株価上昇(目標760円)で初めてPER水準が維持される
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ピア比較 — 純粋同業未上場、多軸選定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NDソフト・ワイズマンは非上場、SaaS+ヘルスケア+制度受益で代替候補選定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ピア①: エス・エム・エス (2175) — 同業界(介護領域のSaaS+人材PF)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ピア②: ラクス (3923) — ビジネスモデル類似(中小事業者向け低単価SaaS)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ピア③: JMDC (4483) — 制度受益+データMoat(医療データPF)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カナミック現状PER 19.3倍 vs ピア中央値レンジ20-30倍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現状PERは中央値レンジ下限、Base 19倍維持は控えめな前提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ピア各社IR(具体PERは要IR・決算データ確認)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目次(Appendixへ)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4577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2200">
                <a:solidFill>
                  <a:srgbClr val="1F4E78"/>
                </a:solidFill>
              </a:rPr>
              <a:t>▶  ▶ 5️⃣ Appendix — カタリスト・リスク・想定Q&amp;A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1645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5800" b="1" i="0">
                <a:solidFill>
                  <a:srgbClr val="FFFFFF"/>
                </a:solidFill>
              </a:rPr>
              <a:t>5️⃣ Appendix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投資戦略・カタリスト一覧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2026年8月〜2027年初に複数のカタリストが集中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カタリスト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予想時期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業績インパクト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FY2026 3Q決算(上方修正の可能性)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2026年8月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2Q営利進捗49%→上振れ余地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AI課金のKPI初開示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2026年8〜11月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ARPU上昇のトラッキング可能化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2027年介護報酬改定の答申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2026年秋〜2027年初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テクノロジー導入加算の具体内容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新規M&amp;A発表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不明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Vision 2035で明示、キャッシュリッチで実行余力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介護情報基盤の対応事業所拡大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2026年4月〜2028年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ユーザー数の段階的増加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リスクシナリオ① AI課金浸透遅延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介護現場ITリテラシーが他業界SaaSより低い可能性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介護現場のITリテラシーが相対的に低い構造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AI機能の採用が他業界SaaSより遅延する可能性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浸透率がFY2028に10%以下にとどまればARPU上昇は限定的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Bearシナリオ(目標株価454円、現値▲17%)に該当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ヘッジ: 2027年改定で加算要件化されれば導入が義務化される構造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リスクシナリオ② AI原価率の不透明さ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LLM APIコスト(OpenAI/Anthropic等)の負担構造が未開示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LLM APIコストの負担構造が未開示(売上に比例?固定?)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売上が伸びてもAI原価率が高ければ限界利益への寄与は薄い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ストーリー前提: AI限界利益率≒100%、APIコストは売上比で限定的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→ IR電話確認推奨項目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リスクシナリオ③④⑤ 改定/競合/顧客集中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改定内容・大手参入・自治体予算依存度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③ 2027年改定の内容が想定より弱い → 導入加速効果が限定的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④ 富士通・NEC等の大手IT企業が本格参入 → 価格競争・シェア喪失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  → 自治体ネットワークへの組み込みという参入障壁は依然高い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⑤ 顧客集中: 自治体・医師会が主要顧客 → 政策変更や予算削減の影響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想定Q&amp;A① 競合もAI機能を出しているのでは？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競合は1事業所内データ、カナミックは地域横断データ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競合のAIは「1事業所内のデータ」でしか学習・活用できない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カナミックは「地域全体の多職種連携データ」にアクセス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プラットフォーム型ゆえAIの精度・活用範囲に構造的な差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自治体ネットワーク経由の面展開で浸透速度のスケーラビリティが異なる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想定Q&amp;A② PBR 5.9倍は高すぎないか？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SaaSモデルはアセット軽くPBR比較は意味薄、PERで評価が適切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ROE 29.5%に対しPBR 5.9倍 — ROE/PBR比率では過度割高でない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SaaSモデルは資産が軽い(のれん・ソフトウェア中心)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PBR比較はあまり意味がない — PERまたはEV/EBITDAで評価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PER 19.3倍は中小SaaSの典型水準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Kanamic Vision 2035 — 10年計画ハイライト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FY35売上200-300億 / 営利80-120億 / OPM 40% を目標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48840"/>
          <a:ext cx="11277295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FY2026(今期)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FY2030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</a:rPr>
                        <a:t>FY2035</a:t>
                      </a:r>
                    </a:p>
                  </a:txBody>
                  <a:tcPr marL="73152" marR="73152" marT="36576" marB="36576" anchor="ctr">
                    <a:solidFill>
                      <a:srgbClr val="1F4E7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売上高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63.5億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100〜120億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200〜300億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営業利益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20.5億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35〜40億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80〜120億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OPM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32.3%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33〜35%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40%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10年累計純利益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380〜600億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10年累計株主還元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115〜180億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10年累計成長投資・M&amp;A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>
                          <a:solidFill>
                            <a:srgbClr val="202020"/>
                          </a:solidFill>
                        </a:rPr>
                        <a:t>265〜420億</a:t>
                      </a:r>
                    </a:p>
                  </a:txBody>
                  <a:tcPr marL="73152" marR="73152" marT="36576" marB="36576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ログミーFinance 2025年9月期決算説明、決算説明資料 2章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800" b="1" i="0">
                <a:solidFill>
                  <a:srgbClr val="1F4E78"/>
                </a:solidFill>
              </a:rPr>
              <a:t>サマリー — 投資推奨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98448"/>
            <a:ext cx="2194560" cy="36576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11277295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2000" b="1" i="0">
                <a:solidFill>
                  <a:srgbClr val="C0392B"/>
                </a:solidFill>
              </a:rPr>
              <a:t>AI課金 × 2027年改定 × 介護情報基盤の3つの構造変化に乗る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911535" cy="411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推奨: BUY / 目標株価 760円(現値550円比 +38%) / 投資期間 FY28通期決算まで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核心: 既存22万有料IDへのAI課金クロスセル(獲得コスト≒0)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Moat: 自治体ネットワーク型PFという構造的優位、競合は1事業所内ソフト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カタリスト: FY26 3Q決算(2026/8) / AI KPI初開示 / 2027年改定答申</a:t>
            </a:r>
          </a:p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800">
                <a:solidFill>
                  <a:srgbClr val="202020"/>
                </a:solidFill>
              </a:rPr>
              <a:t>•  リスク: AI浸透遅延・LLMコスト不透明 → IR電話確認推奨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100" b="0" i="1">
                <a:solidFill>
                  <a:srgbClr val="808080"/>
                </a:solidFill>
              </a:rPr>
              <a:t>出典: 本資料は参考情報であり投資を推奨するものではありません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