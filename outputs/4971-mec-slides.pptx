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03120"/>
            <a:ext cx="1127729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5400" b="1" i="0">
                <a:solidFill>
                  <a:srgbClr val="1F4E78"/>
                </a:solidFill>
              </a:rPr>
              <a:t>【4971】メック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600" b="0" i="0">
                <a:solidFill>
                  <a:srgbClr val="202020"/>
                </a:solidFill>
              </a:rPr>
              <a:t>推奨：BUY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600" b="0" i="0">
                <a:solidFill>
                  <a:srgbClr val="202020"/>
                </a:solidFill>
              </a:rPr>
              <a:t>目標株価：7,443円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600" b="0" i="0">
                <a:solidFill>
                  <a:srgbClr val="202020"/>
                </a:solidFill>
              </a:rPr>
              <a:t>投資期間：26/12通期決算まで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808080"/>
                </a:solidFill>
              </a:rPr>
              <a:t>14.0期 中村陽佑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ストーリー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GPUパッケージ基板の大判化・多層化を独占する密着向上剤メーカー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メックはパッケージ基板の銅箔向け薬剤(CZシリーズ)を製造販売、その市場を独占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GPU向け基板は通常基板に比べ層数2-3倍・面積10-15倍、今後2年でさらに面積2倍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1枚あたり薬剤消費は面積×層数で爆発、GPU出荷台数の伸び以上のスピードで需要拡大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1年で純利益1.4倍、株価1.6倍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よってBUY!!!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メックIR、モルガン・スタンレーレポート、イビデンIR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成長を因数分解する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GPU向け = 物量 × 物理量(層数×面積) × 補正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728655" cy="4114800"/>
          </a:xfrm>
          <a:prstGeom prst="rect">
            <a:avLst/>
          </a:prstGeom>
          <a:noFill/>
        </p:spPr>
        <p:txBody>
          <a:bodyPr wrap="none" anchor="t" tIns="91440">
            <a:no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CZ売上 = 汎用(スマホ・パソコン)向け + GPU用PKG向け
GPU用PKG向け = 前年売上 × GPU生産伸び × 面積増加率
                              × 層数増加率 × 使用量補正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メックIR資料、モルガン・スタンレーレポート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因数分解：各因数の方向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面積×層数の累乗効果が市場平均成長を大幅に超える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因数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方向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なぜ動くか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GPU生産伸び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30/20/10%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AIサーバー需要、電力制約での鈍化織り込み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銅箔面積(mm²)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4,000→12,000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Hopper→Blackwell→Rubinで大判化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銅箔層数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12→18層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信号・電源密度上昇でz方向に多層化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使用量補正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50%固定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GPU向けは薄く粗化(汎用の半分)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汎用向け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横ばい(CAGR 0%)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保守側に倒す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モルガン・スタンレーレポート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なぜ市場が気づいていないか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「ニッチな化学品メーカー」認識が累乗効果を見落としている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業界認識: マニアックな化学薬剤メーカーとして見られている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独占の認識: 経産省も認める独占だが広く知られていない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GPU恩恵: 通常基板の延長として見られ、面積×層数の累乗効果が反映されない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工場稼働率: 現状43%、新工場で+3割増 — 物理的余地は十分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1️⃣ 基本情報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2️⃣ マクロ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3️⃣ ミクロ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4️⃣ バリュエーション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5️⃣ Appendix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1️⃣ 基本情報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会社の概要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薬剤事業が99%、CZシリーズが薬剤の7割以上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銘柄コード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4971 (東証プライム)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主事業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銅箔表面処理薬剤(密着向上剤・エッチング剤)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売上構成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薬剤事業 99% / 機械・資材その他 1%以下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主力製品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CZシリーズ(密着向上剤)が薬剤の7割以上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投資期間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26/12通期決算発表まで(約1年)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(補足) CZシリーズとは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パッケージ基板製造に必須、無いと歩留まり悪化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パッケージ基板の銅箔と樹脂の界面を密着させる薬剤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無いと端がめくれて製品が成立しない(添加剤ではなく必須材料)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だからこそ価格交渉力が強い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CZシリーズの生誕ストーリー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業界の根本問題を解決した会社=規格を握るポジション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728655" cy="4114800"/>
          </a:xfrm>
          <a:prstGeom prst="rect">
            <a:avLst/>
          </a:prstGeom>
          <a:noFill/>
        </p:spPr>
        <p:txBody>
          <a:bodyPr wrap="none" anchor="t" tIns="91440">
            <a:no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1990年代、基板の材料が セラミック → 有機樹脂に切り替わった
                              ↓
         「銅箔と樹脂が剥がれる」という新しい問題が浮上
                              ↓
     メックが銅の表面を粗化することで密着度を高める手法を提案
                              ↓
             その後デファクトスタンダード化した
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半導体パッケージ基板とは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半導体とPCB基板をつなぐ中継機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半導体(CPU/GPU/HBM)とマザーボードの間に挟まれる基板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パッケージ基板メーカー: イビデン、新光電気工業など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メックはこの基板メーカーに薬剤(CZシリーズ)を販売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イビデンは過去IRに登場した納入先、現在生産量大幅増強 = 直接的追い風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メックIR、イビデンIR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今後パッケージ基板は大判化と多層化が並行で進む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x-y方向は規格固定 → z方向(層数)に増やすしかない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728655" cy="4114800"/>
          </a:xfrm>
          <a:prstGeom prst="rect">
            <a:avLst/>
          </a:prstGeom>
          <a:noFill/>
        </p:spPr>
        <p:txBody>
          <a:bodyPr wrap="none" anchor="t" tIns="91440">
            <a:no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         [大判化]                       [多層化]
従来:  [SoC][HBM×2]      ━━━━━&gt;   ビルドアップ層
                                       コア層
これから: [SoC大][HBM×4-8]              ビルドアップ層
                                          (層数 増加)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14.0蔦野の日東紡資料より引用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目次(マクロへ)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▶ 2️⃣ マクロ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2️⃣ マクロ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GPU向け基板生産数(YoY)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汎用は据置(保守)、GPU向けは+30/20/10%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世代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汎用向け CAGR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AI用途GPU向け YoY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0% (バリュエーション保守)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+30%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FY26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+20%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+10%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各種半導体レポート、電力制約による鈍化を織り込み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現時点の基板生産数の比率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汎用:GPU = 60:1 (24/12時点) → 27/12には完全に主役交代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728655" cy="4114800"/>
          </a:xfrm>
          <a:prstGeom prst="rect">
            <a:avLst/>
          </a:prstGeom>
          <a:noFill/>
        </p:spPr>
        <p:txBody>
          <a:bodyPr wrap="none" anchor="t" tIns="91440">
            <a:no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生産台数/年
 ① スマホ：12.2億    ② パソコン：2.65億    ③ AIサーバー：181万
パッケージ基板数(1台あたり)
 ① スマホ：10        ② パソコン：15        ③ AIサーバー：120
 ↓
 汎用(スマホ・パソコン)向け：GPU向け  =  60 : 1
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銅箔面積: GPU向けは大判化で爆発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HopperからRubinまでで面積3倍 = 薬剤消費も3倍効く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世代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インターポーザー面積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余白込み仕様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Hopper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2,831 mm²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4,000 mm²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Blackwell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4,719 mm²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7,500 mm²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Rubin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7,722 mm²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12,000 mm²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各種レポートで予想されるレンジ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銅箔層数: GPU向けは多層化で増える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汎用6.2層 vs Rubin 18層 = 約3倍の差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世代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層数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汎用(スマホ・パソコン)加重平均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6.2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Hopper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12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Blackwell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Rubin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18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モルガン・スタンレーレポート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Hopper / Blackwell / Rubin 比率推移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FY27にRubinが75%占有 — もう一段薬剤需要が跳ねる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年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Hopper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Blackwell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Rubin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FY24/12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50.0%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50.0%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0.0%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FY25/12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20.0%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80.0%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0.0%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FY26/12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10.0%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70.0%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25.0%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FY27/12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5.0%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20.0%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75.0%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モルガン・スタンレーレポート、NVIDIA公表ロードマップ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使用量補正：GPU向けは50%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多層化のため薄く粗化 → 汎用の半分しか消費しない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汎用向け: CZ8101 (通常の粗化量)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GPU向け: CZ8201 (薄く粗化する専用品)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GPU向けは多層化のため可能な限り薄く粗化する必要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使用量は汎用比 50% で固定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面積と層数の伸びの一部を相殺するが、最終売上は3年で4倍以上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目次(ミクロへ)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▶ 3️⃣ ミクロ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3️⃣ ミクロ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シェア独占の3つの根拠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「ニッチで重要で安い」という最強の組み合わせ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① メック自身と経産省が「独占」を公式に認めている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② ニッチだが致命的に重要 → 顧客の再評価コスト(時間+金)が大きい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③ PKG基板原価に占める割合は低い → 安さで乗り換えるインセンティブ弱い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経産省資料、メックIR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粗利率の高さ: 密着向上剤75% / エッチング剤45%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GPU向けCZ比率が上がるほど全社粗利率が押し上がる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製品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粗利率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密着向上剤 (CZシリーズ)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75%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エッチング剤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45%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四半期データから方程式立てて推計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生産キャパ: 物理的な余力がたっぷり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新工場で 97,200 → 127,200 トン(+31%増)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年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生産量(トン)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工場キャパ(トン)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稼働率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FY24/12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42,075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97,200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43.3%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FY25/12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47,153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97,200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48.5%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FY26/12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57,084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97,200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58.7%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FY27/12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68,379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127,200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53.8%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メックIR(max稼働率7-8割の供給責任あり)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目次(バリュエーションへ)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▶ 4️⃣ バリュエーション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4️⃣ バリュエーション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売上・利益のレバレッジ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売上+51% × 利益率改善 × 税率正常化 = 純利益×3.1倍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FY24 実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FY25 実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FY27 予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売上高 (百万円)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18,234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20,948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27,561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営業利益 (百万円)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4,562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5,748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9,465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営業利益率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25.0%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27.4%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34.3%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純利益 (百万円)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2,291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5,028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7,099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yuho開示、本発表バリュエーション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目標株価とアップサイド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1年で純利益×3.1倍 + 株価×1.6倍を想定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目標株価: 7,443円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投資期間: 26/12通期決算発表まで(約1年)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売上成長 × 営業レバレッジ × 税率正常化の三段ロケット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営業利益と利益率の推移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営利+107% / 営利率25% → 34% の急改善を視覚化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148840"/>
            <a:ext cx="9448495" cy="3931920"/>
          </a:xfrm>
          <a:prstGeom prst="rect">
            <a:avLst/>
          </a:prstGeom>
          <a:solidFill>
            <a:srgbClr val="FAFAFA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>
            <a:noAutofit/>
          </a:bodyPr>
          <a:lstStyle/>
          <a:p>
            <a:pPr algn="ctr"/>
            <a:r>
              <a:rPr sz="2800" b="1">
                <a:solidFill>
                  <a:srgbClr val="666666"/>
                </a:solidFill>
              </a:rPr>
              <a:t>[ 画像 ]</a:t>
            </a:r>
          </a:p>
          <a:p>
            <a:pPr algn="ctr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
営業利益(棒、左軸、百万円)と営業利益率(線+ドット、右軸、%)の二軸グラフ。
横軸: FY21実 / FY22実 / FY23実 / FY24実 / FY25実 / FY26予 / FY27予。
サイズ目安: スライド中央に 横6inch × 縦4inch 程度。
ソース: outputs/4971-mec-valuation.xlsx のチャート1 をエクスポート</a:t>
            </a:r>
          </a:p>
          <a:p>
            <a:pPr algn="ctr"/>
            <a:r>
              <a:rPr sz="1400" i="1">
                <a:solidFill>
                  <a:srgbClr val="666666"/>
                </a:solidFill>
              </a:rPr>
              <a:t>
目視で2025-2027の急上昇トレンドが分かるように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outputs/4971-mec-valuation.xlsx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目次(Appendixへ)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▶ 5️⃣ Appendix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5️⃣ Appendix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投資期間の根拠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ストーリーが市場に伝わって株価が反応するまで1年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26/12は増収率が停滞するから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26/12は工場稼働による人件費がのり、営利率の伸びが鈍化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半導体マクロに対する不透明感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ダウンサイド①: 半導体マクロの減速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投資期間1年では発生確率低い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GPU需要そのものが急減するシナリオが最大リスク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ただし投資期間が1年 → その間に半導体マクロが急減速する確率は低い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まぁ大丈夫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ダウンサイド②: ガラス基板採用 / 無粗化シフト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技術的にはあり得るが製造現場の実装は時間がかかる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ガラス基板 / 無粗化技術 が普及すればCZシリーズは不要に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ただし量産現場での実装には時間がかかる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まぁ一年以内にはない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原材料リスクについて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ナフサのような変動激しい材料ではない (IR)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IR: 「原材料は企業秘密だが、ナフサのような価格変動が激しい材料では無い」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原材料起因で粗利率75%(密着向上剤)が大幅低下するシナリオは想定不要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メックIR電話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