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1F4E78"/>
                </a:solidFill>
              </a:rPr>
              <a:t>【4971】メック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02020"/>
                </a:solidFill>
              </a:rPr>
              <a:t>推奨：BUY
目標株価：7,443円
投資期間：26/12通期決算まで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08080"/>
                </a:solidFill>
              </a:rPr>
              <a:t>14.0期 中村陽佑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8"/>
                </a:solidFill>
              </a:rPr>
              <a:t>ストーリー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0392B"/>
                </a:solidFill>
              </a:rPr>
              <a:t>GPUパッケージ基板の大判化・多層化を独占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115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202020"/>
                </a:solidFill>
              </a:rPr>
              <a:t>• メックはパッケージ基板の銅箔向け薬剤(CZシリーズ)を製造販売しており、その市場を独占している</a:t>
            </a:r>
          </a:p>
          <a:p>
            <a:pPr algn="l"/>
            <a:r>
              <a:rPr sz="1800">
                <a:solidFill>
                  <a:srgbClr val="202020"/>
                </a:solidFill>
              </a:rPr>
              <a:t>• GPU向けパッケージ基板は通常基板に比べ層数2-3倍・面積10-15倍、今後2年でさらに面積2倍</a:t>
            </a:r>
          </a:p>
          <a:p>
            <a:pPr algn="l"/>
            <a:r>
              <a:rPr sz="1800">
                <a:solidFill>
                  <a:srgbClr val="202020"/>
                </a:solidFill>
              </a:rPr>
              <a:t>• 1枚あたりの薬剤消費量は面積×層数で増えるためGPU出荷台数の伸び以上の速度で需要爆発</a:t>
            </a:r>
          </a:p>
          <a:p>
            <a:pPr algn="l"/>
            <a:r>
              <a:rPr sz="1800">
                <a:solidFill>
                  <a:srgbClr val="202020"/>
                </a:solidFill>
              </a:rPr>
              <a:t>• 1年で純利益1.4倍、株価1.6倍</a:t>
            </a:r>
          </a:p>
          <a:p>
            <a:pPr algn="l"/>
            <a:r>
              <a:rPr sz="1800">
                <a:solidFill>
                  <a:srgbClr val="202020"/>
                </a:solidFill>
              </a:rPr>
              <a:t>• よってBUY!!!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08080"/>
                </a:solidFill>
              </a:rPr>
              <a:t>出典: メックIR、モルガン・スタンレーレポート 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8"/>
                </a:solidFill>
              </a:rPr>
              <a:t>成長を因数分解する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02020"/>
                </a:solidFill>
                <a:latin typeface="Courier New"/>
              </a:rPr>
              <a:t>CZ売上 = 汎用(スマホ・パソコン)向け + GPU用PKG向け
GPU用PKG向け = 前年売上 × GPU生産伸び × 面積増加率
                            × 層数増加率 × 使用量補正
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08080"/>
                </a:solidFill>
              </a:rPr>
              <a:t>出典: メック IR資料、モルガン・スタンレーレポート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8"/>
                </a:solidFill>
              </a:rPr>
              <a:t>因数分解：各因数の方向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7729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365760">
                <a:tc>
                  <a:txBody>
                    <a:bodyPr/>
                    <a:lstStyle/>
                    <a:p>
                      <a:r>
                        <a:rPr b="1" sz="1400"/>
                        <a:t>因数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/>
                        <a:t>方向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/>
                        <a:t>なぜ動くか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GPU生産伸び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↑ 30/20/10%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AIサーバー需要。電力制約での鈍化織り込み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銅箔面積(mm²)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↑ 4,000→12,000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Hopper→Blackwell→Rubin で大判化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銅箔層数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↑ 12→18層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信号・電源密度の上昇でz方向に多層化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使用量補正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50%固定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GPU向けは多層化のため薄く粗化(汎用の半分)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汎用向け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横ばい(CAGR 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保守側に倒す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08080"/>
                </a:solidFill>
              </a:rPr>
              <a:t>出典: モルガン・スタンレーレポート 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8"/>
                </a:solidFill>
              </a:rPr>
              <a:t>なぜ市場が気づいていないか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115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202020"/>
                </a:solidFill>
              </a:rPr>
              <a:t>• 業界認識: 「マニアックな化学薬剤メーカー」として認識されている</a:t>
            </a:r>
          </a:p>
          <a:p>
            <a:pPr algn="l"/>
            <a:r>
              <a:rPr sz="1800">
                <a:solidFill>
                  <a:srgbClr val="202020"/>
                </a:solidFill>
              </a:rPr>
              <a:t>• 独占の認識: メック自身と経産省が「市場独占」を明言しているのに広く知られていない</a:t>
            </a:r>
          </a:p>
          <a:p>
            <a:pPr algn="l"/>
            <a:r>
              <a:rPr sz="1800">
                <a:solidFill>
                  <a:srgbClr val="202020"/>
                </a:solidFill>
              </a:rPr>
              <a:t>• GPU恩恵の織り込み: 通常基板の延長として見られ、「面積×層数」の累乗効果が反映されていない</a:t>
            </a:r>
          </a:p>
          <a:p>
            <a:pPr algn="l"/>
            <a:r>
              <a:rPr sz="1800">
                <a:solidFill>
                  <a:srgbClr val="202020"/>
                </a:solidFill>
              </a:rPr>
              <a:t>• 工場稼働率: 現状43%、新工場で+3割増 — 物理的余地は十分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8"/>
                </a:solidFill>
              </a:rPr>
              <a:t>目次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115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202020"/>
                </a:solidFill>
              </a:rPr>
              <a:t>• 1️⃣ 基本情報</a:t>
            </a:r>
          </a:p>
          <a:p>
            <a:pPr algn="l"/>
            <a:r>
              <a:rPr sz="1800">
                <a:solidFill>
                  <a:srgbClr val="202020"/>
                </a:solidFill>
              </a:rPr>
              <a:t>• 2️⃣ マクロ</a:t>
            </a:r>
          </a:p>
          <a:p>
            <a:pPr algn="l"/>
            <a:r>
              <a:rPr sz="1800">
                <a:solidFill>
                  <a:srgbClr val="202020"/>
                </a:solidFill>
              </a:rPr>
              <a:t>• 3️⃣ ミクロ</a:t>
            </a:r>
          </a:p>
          <a:p>
            <a:pPr algn="l"/>
            <a:r>
              <a:rPr sz="1800">
                <a:solidFill>
                  <a:srgbClr val="202020"/>
                </a:solidFill>
              </a:rPr>
              <a:t>• 4️⃣ バリュエーション</a:t>
            </a:r>
          </a:p>
          <a:p>
            <a:pPr algn="l"/>
            <a:r>
              <a:rPr sz="1800">
                <a:solidFill>
                  <a:srgbClr val="202020"/>
                </a:solidFill>
              </a:rPr>
              <a:t>• 5️⃣ Appendix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1️⃣ 基本情報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8"/>
                </a:solidFill>
              </a:rPr>
              <a:t>会社の概要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7729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65760">
                <a:tc>
                  <a:txBody>
                    <a:bodyPr/>
                    <a:lstStyle/>
                    <a:p>
                      <a:r>
                        <a:rPr b="1" sz="1400"/>
                        <a:t>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/>
                        <a:t>内容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主事業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銅箔表面処理薬剤(密着向上剤・エッチング剤)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売上構成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薬剤事業が99%、機械・資材その他は1%以下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主力製品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CZシリーズ(密着向上剤)が薬剤の7割以上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投資期間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26/12通期決算発表まで(約1年)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8"/>
                </a:solidFill>
              </a:rPr>
              <a:t>(補足) CZシリーズとは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115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202020"/>
                </a:solidFill>
              </a:rPr>
              <a:t>• パッケージ基板製造時に必須の薬剤</a:t>
            </a:r>
          </a:p>
          <a:p>
            <a:pPr algn="l"/>
            <a:r>
              <a:rPr sz="1800">
                <a:solidFill>
                  <a:srgbClr val="202020"/>
                </a:solidFill>
              </a:rPr>
              <a:t>• 無いと銅箔と樹脂の界面が剥がれて歩留まりが悪化</a:t>
            </a:r>
          </a:p>
          <a:p>
            <a:pPr algn="l"/>
            <a:r>
              <a:rPr sz="1800">
                <a:solidFill>
                  <a:srgbClr val="202020"/>
                </a:solidFill>
              </a:rPr>
              <a:t>• 「あっても無くてもいい添加剤」ではなく、無いと製品ができない</a:t>
            </a:r>
          </a:p>
          <a:p>
            <a:pPr algn="l"/>
            <a:r>
              <a:rPr sz="1800">
                <a:solidFill>
                  <a:srgbClr val="202020"/>
                </a:solidFill>
              </a:rPr>
              <a:t>• だからこそ価格交渉力が強い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8"/>
                </a:solidFill>
              </a:rPr>
              <a:t>CZシリーズの生誕ストーリー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02020"/>
                </a:solidFill>
                <a:latin typeface="Courier New"/>
              </a:rPr>
              <a:t>1990年代、基板の材料がセラミック → 有機樹脂に切り替わった
   ↓
「銅箔と樹脂が剥がれる」という新しい問題が浮上
   ↓
メックが銅の表面を粗化することで密着度を高める手法を提案
   ↓
その後デファクトスタンダード化した
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8"/>
                </a:solidFill>
              </a:rPr>
              <a:t>目次(マクロへ)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115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202020"/>
                </a:solidFill>
              </a:rPr>
              <a:t>• ▶ 2️⃣ マクロ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2️⃣ マクロ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8"/>
                </a:solidFill>
              </a:rPr>
              <a:t>現時点の基板生産数の比率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0392B"/>
                </a:solidFill>
              </a:rPr>
              <a:t>汎用:GPU = 60:1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127729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365760">
                <a:tc>
                  <a:txBody>
                    <a:bodyPr/>
                    <a:lstStyle/>
                    <a:p>
                      <a:r>
                        <a:rPr b="1" sz="1400"/>
                        <a:t>用途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/>
                        <a:t>台数/年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/>
                        <a:t>1台あたり基板数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スマホ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12.2億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10枚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パソコン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2.65億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15枚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AIサーバー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181万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120枚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08080"/>
                </a:solidFill>
              </a:rPr>
              <a:t>出典: 各種統計より試算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8"/>
                </a:solidFill>
              </a:rPr>
              <a:t>銅箔面積: GPU向けは大判化で爆発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0392B"/>
                </a:solidFill>
              </a:rPr>
              <a:t>HopperからRubinまでで面積3倍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127729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365760">
                <a:tc>
                  <a:txBody>
                    <a:bodyPr/>
                    <a:lstStyle/>
                    <a:p>
                      <a:r>
                        <a:rPr b="1" sz="1400"/>
                        <a:t>世代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/>
                        <a:t>インターポーザー面積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/>
                        <a:t>余白込み仕様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Hopper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2,831 mm²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4,000 mm²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Blackwell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4,719 mm²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7,500 mm²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Rubin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7,722 mm²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12,000 mm²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08080"/>
                </a:solidFill>
              </a:rPr>
              <a:t>出典: 各種レポートで予想されるレンジ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8"/>
                </a:solidFill>
              </a:rPr>
              <a:t>銅箔層数: GPU向けは多層化で増える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0392B"/>
                </a:solidFill>
              </a:rPr>
              <a:t>汎用6.2層 vs Rubin 18層(約3倍)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127729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65760">
                <a:tc>
                  <a:txBody>
                    <a:bodyPr/>
                    <a:lstStyle/>
                    <a:p>
                      <a:r>
                        <a:rPr b="1" sz="1400"/>
                        <a:t>世代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/>
                        <a:t>層数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Hopper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Blackwell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Rubin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08080"/>
                </a:solidFill>
              </a:rPr>
              <a:t>出典: モルガン・スタンレーレポート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8"/>
                </a:solidFill>
              </a:rPr>
              <a:t>Hopper / Blackwell / Rubin 比率推移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0392B"/>
                </a:solidFill>
              </a:rPr>
              <a:t>FY27にRubinが75%を占める — もう一段跳ねる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127729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365760">
                <a:tc>
                  <a:txBody>
                    <a:bodyPr/>
                    <a:lstStyle/>
                    <a:p>
                      <a:r>
                        <a:rPr b="1" sz="1400"/>
                        <a:t>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/>
                        <a:t>Hopper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/>
                        <a:t>Blackwell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/>
                        <a:t>Rubin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FY24/12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FY25/12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FY26/12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25%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FY27/12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75%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8"/>
                </a:solidFill>
              </a:rPr>
              <a:t>目次(ミクロへ)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115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202020"/>
                </a:solidFill>
              </a:rPr>
              <a:t>• ▶ 3️⃣ ミクロ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3️⃣ ミクロ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8"/>
                </a:solidFill>
              </a:rPr>
              <a:t>シェア独占の3つの根拠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115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202020"/>
                </a:solidFill>
              </a:rPr>
              <a:t>• ① メック自身と経産省が「独占」を公式に認めている</a:t>
            </a:r>
          </a:p>
          <a:p>
            <a:pPr algn="l"/>
            <a:r>
              <a:rPr sz="1800">
                <a:solidFill>
                  <a:srgbClr val="202020"/>
                </a:solidFill>
              </a:rPr>
              <a:t>• ② ニッチだが致命的に重要な工程 → 顧客側の再評価コスト大</a:t>
            </a:r>
          </a:p>
          <a:p>
            <a:pPr algn="l"/>
            <a:r>
              <a:rPr sz="1800">
                <a:solidFill>
                  <a:srgbClr val="202020"/>
                </a:solidFill>
              </a:rPr>
              <a:t>• ③ PKG基板原価に占める割合は低い → 安さで乗り換えるインセンティブが弱い</a:t>
            </a:r>
          </a:p>
          <a:p>
            <a:pPr algn="l"/>
            <a:r>
              <a:rPr sz="1800">
                <a:solidFill>
                  <a:srgbClr val="202020"/>
                </a:solidFill>
              </a:rPr>
              <a:t>• →「ニッチで重要で安い」という最強の組み合わせ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8"/>
                </a:solidFill>
              </a:rPr>
              <a:t>生産キャパ: 物理的な余力がたっぷり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0392B"/>
                </a:solidFill>
              </a:rPr>
              <a:t>新工場で 97,200トン → 127,200トン(+31%)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127729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365760">
                <a:tc>
                  <a:txBody>
                    <a:bodyPr/>
                    <a:lstStyle/>
                    <a:p>
                      <a:r>
                        <a:rPr b="1" sz="1400"/>
                        <a:t>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/>
                        <a:t>生産量(トン)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/>
                        <a:t>工場キャパ(トン)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/>
                        <a:t>稼働率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FY24/12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42,075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97,200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43.3%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FY25/12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47,153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97,200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48.5%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FY26/12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57,084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97,200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58.7%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FY27/12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68,379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127,200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53.8%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08080"/>
                </a:solidFill>
              </a:rPr>
              <a:t>出典: メックIR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8"/>
                </a:solidFill>
              </a:rPr>
              <a:t>目次(バリュエーションへ)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115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202020"/>
                </a:solidFill>
              </a:rPr>
              <a:t>• ▶ 4️⃣ バリュエーション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4️⃣ バリュエーション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8"/>
                </a:solidFill>
              </a:rPr>
              <a:t>売上・利益のレバレッジ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0392B"/>
                </a:solidFill>
              </a:rPr>
              <a:t>売上+51% → 純利益×3.1倍の三段ロケット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127729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365760">
                <a:tc>
                  <a:txBody>
                    <a:bodyPr/>
                    <a:lstStyle/>
                    <a:p>
                      <a:r>
                        <a:rPr b="1" sz="1400"/>
                        <a:t>指標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/>
                        <a:t>FY24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/>
                        <a:t>FY25実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/>
                        <a:t>FY27予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売上高 (百万円)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18,234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20,947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27,561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営業利益 (百万円)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4,562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5,748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9,465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営業利益率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34.3%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純利益 (百万円)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2,291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5,028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7,099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08080"/>
                </a:solidFill>
              </a:rPr>
              <a:t>出典: yuho、メックIR、本発表バリュエーション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8"/>
                </a:solidFill>
              </a:rPr>
              <a:t>目標株価とアップサイド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115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202020"/>
                </a:solidFill>
              </a:rPr>
              <a:t>• 目標株価: 7,443円</a:t>
            </a:r>
          </a:p>
          <a:p>
            <a:pPr algn="l"/>
            <a:r>
              <a:rPr sz="1800">
                <a:solidFill>
                  <a:srgbClr val="202020"/>
                </a:solidFill>
              </a:rPr>
              <a:t>• 投資期間: 26/12通期決算発表まで(約1年)</a:t>
            </a:r>
          </a:p>
          <a:p>
            <a:pPr algn="l"/>
            <a:r>
              <a:rPr sz="1800">
                <a:solidFill>
                  <a:srgbClr val="202020"/>
                </a:solidFill>
              </a:rPr>
              <a:t>• 純利益 ×3.1倍 + 株価 ×1.6倍を想定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8"/>
                </a:solidFill>
              </a:rPr>
              <a:t>目次(Appendixへ)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115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202020"/>
                </a:solidFill>
              </a:rPr>
              <a:t>• ▶ 5️⃣ Appendix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5️⃣ Appendix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8"/>
                </a:solidFill>
              </a:rPr>
              <a:t>投資期間の根拠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0392B"/>
                </a:solidFill>
              </a:rPr>
              <a:t>26/12通期決算発表まで(約1年)を想定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115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202020"/>
                </a:solidFill>
              </a:rPr>
              <a:t>• 26/12は増収率が停滞するから</a:t>
            </a:r>
          </a:p>
          <a:p>
            <a:pPr algn="l"/>
            <a:r>
              <a:rPr sz="1800">
                <a:solidFill>
                  <a:srgbClr val="202020"/>
                </a:solidFill>
              </a:rPr>
              <a:t>• 26/12は工場稼働による人件費がのり、営利率の伸びが鈍化</a:t>
            </a:r>
          </a:p>
          <a:p>
            <a:pPr algn="l"/>
            <a:r>
              <a:rPr sz="1800">
                <a:solidFill>
                  <a:srgbClr val="202020"/>
                </a:solidFill>
              </a:rPr>
              <a:t>• 半導体マクロに対する不透明感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8"/>
                </a:solidFill>
              </a:rPr>
              <a:t>ダウンサイド①: 半導体マクロの減速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115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202020"/>
                </a:solidFill>
              </a:rPr>
              <a:t>• GPU需要そのものが急減するシナリオが最大リスク</a:t>
            </a:r>
          </a:p>
          <a:p>
            <a:pPr algn="l"/>
            <a:r>
              <a:rPr sz="1800">
                <a:solidFill>
                  <a:srgbClr val="202020"/>
                </a:solidFill>
              </a:rPr>
              <a:t>• ただし投資期間が1年なので、その間にAIサーバーマクロが急減速する可能性は低い</a:t>
            </a:r>
          </a:p>
          <a:p>
            <a:pPr algn="l"/>
            <a:r>
              <a:rPr sz="1800">
                <a:solidFill>
                  <a:srgbClr val="202020"/>
                </a:solidFill>
              </a:rPr>
              <a:t>• → まぁ大丈夫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8"/>
                </a:solidFill>
              </a:rPr>
              <a:t>ダウンサイド②: ガラス基板採用 / 無粗化シフト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115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202020"/>
                </a:solidFill>
              </a:rPr>
              <a:t>• 技術的には密着向上剤を不要にする方向の動きはありえる</a:t>
            </a:r>
          </a:p>
          <a:p>
            <a:pPr algn="l"/>
            <a:r>
              <a:rPr sz="1800">
                <a:solidFill>
                  <a:srgbClr val="202020"/>
                </a:solidFill>
              </a:rPr>
              <a:t>• ガラス基板 / 無粗化技術 が普及すればメックの主力製品は不要に</a:t>
            </a:r>
          </a:p>
          <a:p>
            <a:pPr algn="l"/>
            <a:r>
              <a:rPr sz="1800">
                <a:solidFill>
                  <a:srgbClr val="202020"/>
                </a:solidFill>
              </a:rPr>
              <a:t>• ただし製造現場での実装には時間がかかる</a:t>
            </a:r>
          </a:p>
          <a:p>
            <a:pPr algn="l"/>
            <a:r>
              <a:rPr sz="1800">
                <a:solidFill>
                  <a:srgbClr val="202020"/>
                </a:solidFill>
              </a:rPr>
              <a:t>• → まぁ一年以内にはない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8"/>
                </a:solidFill>
              </a:rPr>
              <a:t>原材料リスクについて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115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202020"/>
                </a:solidFill>
              </a:rPr>
              <a:t>• IR: 「原材料は企業秘密だが、ナフサのような価格変動が激しい材料では無い」</a:t>
            </a:r>
          </a:p>
          <a:p>
            <a:pPr algn="l"/>
            <a:r>
              <a:rPr sz="1800">
                <a:solidFill>
                  <a:srgbClr val="202020"/>
                </a:solidFill>
              </a:rPr>
              <a:t>• 原材料価格変動による粗利率の急激な悪化リスクは低い</a:t>
            </a:r>
          </a:p>
          <a:p>
            <a:pPr algn="l"/>
            <a:r>
              <a:rPr sz="1800">
                <a:solidFill>
                  <a:srgbClr val="202020"/>
                </a:solidFill>
              </a:rPr>
              <a:t>• 粗利率75%(密着向上剤)が原材料起因で大幅に落ちるシナリオは想定不要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