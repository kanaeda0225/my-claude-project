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0"/>
            <a:ext cx="11277295" cy="1463040"/>
          </a:xfrm>
          <a:prstGeom prst="rect">
            <a:avLst/>
          </a:prstGeom>
          <a:noFill/>
        </p:spPr>
        <p:txBody>
          <a:bodyPr wrap="square" lIns="45720" rIns="45720" tIns="18288" bIns="18288">
            <a:spAutoFit/>
          </a:bodyPr>
          <a:lstStyle/>
          <a:p>
            <a:pPr algn="ctr"/>
            <a:r>
              <a:rPr sz="5400" b="1">
                <a:solidFill>
                  <a:srgbClr val="1F4E78"/>
                </a:solidFill>
              </a:rPr>
              <a:t>【6648】かわでん</a:t>
            </a:r>
          </a:p>
        </p:txBody>
      </p:sp>
      <p:sp>
        <p:nvSpPr>
          <p:cNvPr id="4" name="TextBox 3"/>
          <p:cNvSpPr txBox="1"/>
          <p:nvPr/>
        </p:nvSpPr>
        <p:spPr>
          <a:xfrm>
            <a:off x="457200" y="3931920"/>
            <a:ext cx="11277295" cy="457200"/>
          </a:xfrm>
          <a:prstGeom prst="rect">
            <a:avLst/>
          </a:prstGeom>
          <a:noFill/>
        </p:spPr>
        <p:txBody>
          <a:bodyPr wrap="square" lIns="45720" rIns="45720" tIns="18288" bIns="18288">
            <a:spAutoFit/>
          </a:bodyPr>
          <a:lstStyle/>
          <a:p>
            <a:pPr algn="ctr"/>
            <a:r>
              <a:rPr sz="2600" b="0">
                <a:solidFill>
                  <a:srgbClr val="202020"/>
                </a:solidFill>
              </a:rPr>
              <a:t>推奨：STRONG BUY</a:t>
            </a:r>
          </a:p>
        </p:txBody>
      </p:sp>
      <p:sp>
        <p:nvSpPr>
          <p:cNvPr id="5" name="TextBox 4"/>
          <p:cNvSpPr txBox="1"/>
          <p:nvPr/>
        </p:nvSpPr>
        <p:spPr>
          <a:xfrm>
            <a:off x="457200" y="4389120"/>
            <a:ext cx="11277295" cy="457200"/>
          </a:xfrm>
          <a:prstGeom prst="rect">
            <a:avLst/>
          </a:prstGeom>
          <a:noFill/>
        </p:spPr>
        <p:txBody>
          <a:bodyPr wrap="square" lIns="45720" rIns="45720" tIns="18288" bIns="18288">
            <a:spAutoFit/>
          </a:bodyPr>
          <a:lstStyle/>
          <a:p>
            <a:pPr algn="ctr"/>
            <a:r>
              <a:rPr sz="2600" b="0">
                <a:solidFill>
                  <a:srgbClr val="202020"/>
                </a:solidFill>
              </a:rPr>
              <a:t>株価：2,300円 → 4,978円</a:t>
            </a:r>
          </a:p>
        </p:txBody>
      </p:sp>
      <p:sp>
        <p:nvSpPr>
          <p:cNvPr id="6" name="TextBox 5"/>
          <p:cNvSpPr txBox="1"/>
          <p:nvPr/>
        </p:nvSpPr>
        <p:spPr>
          <a:xfrm>
            <a:off x="457200" y="4846320"/>
            <a:ext cx="11277295" cy="457200"/>
          </a:xfrm>
          <a:prstGeom prst="rect">
            <a:avLst/>
          </a:prstGeom>
          <a:noFill/>
        </p:spPr>
        <p:txBody>
          <a:bodyPr wrap="square" lIns="45720" rIns="45720" tIns="18288" bIns="18288">
            <a:spAutoFit/>
          </a:bodyPr>
          <a:lstStyle/>
          <a:p>
            <a:pPr algn="ctr"/>
            <a:r>
              <a:rPr sz="2600" b="0">
                <a:solidFill>
                  <a:srgbClr val="202020"/>
                </a:solidFill>
              </a:rPr>
              <a:t>投資期間：1-2年弱</a:t>
            </a:r>
          </a:p>
        </p:txBody>
      </p:sp>
      <p:sp>
        <p:nvSpPr>
          <p:cNvPr id="7" name="TextBox 6"/>
          <p:cNvSpPr txBox="1"/>
          <p:nvPr/>
        </p:nvSpPr>
        <p:spPr>
          <a:xfrm>
            <a:off x="457200" y="5943600"/>
            <a:ext cx="11277295" cy="457200"/>
          </a:xfrm>
          <a:prstGeom prst="rect">
            <a:avLst/>
          </a:prstGeom>
          <a:noFill/>
        </p:spPr>
        <p:txBody>
          <a:bodyPr wrap="square" lIns="45720" rIns="45720" tIns="18288" bIns="18288">
            <a:spAutoFit/>
          </a:bodyPr>
          <a:lstStyle/>
          <a:p>
            <a:pPr algn="ctr"/>
            <a:r>
              <a:rPr sz="1800" b="0">
                <a:solidFill>
                  <a:srgbClr val="808080"/>
                </a:solidFill>
              </a:rPr>
              <a:t>14.0期 庭野純之介</a:t>
            </a:r>
          </a:p>
        </p:txBody>
      </p:sp>
      <p:sp>
        <p:nvSpPr>
          <p:cNvPr id="8" name="Rectangle 7"/>
          <p:cNvSpPr/>
          <p:nvPr/>
        </p:nvSpPr>
        <p:spPr>
          <a:xfrm>
            <a:off x="0" y="6492240"/>
            <a:ext cx="12191695" cy="36576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ストーリー</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武器商人ポジ × 値上げ × ミックスシフト の三段レバレッジ</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建設・電力工事需要が来る、需給ひっ迫で電気工事会社の採算性が大幅改善</a:t>
            </a:r>
          </a:p>
          <a:p>
            <a:pPr algn="l">
              <a:lnSpc>
                <a:spcPct val="130000"/>
              </a:lnSpc>
            </a:pPr>
            <a:r>
              <a:rPr sz="1800">
                <a:solidFill>
                  <a:srgbClr val="202020"/>
                </a:solidFill>
              </a:rPr>
              <a:t>•  かわでんは関電工/きんでんに配電盤を卸す業界一強の武器商人</a:t>
            </a:r>
          </a:p>
          <a:p>
            <a:pPr algn="l">
              <a:lnSpc>
                <a:spcPct val="130000"/>
              </a:lnSpc>
            </a:pPr>
            <a:r>
              <a:rPr sz="1800">
                <a:solidFill>
                  <a:srgbClr val="202020"/>
                </a:solidFill>
              </a:rPr>
              <a:t>•  値上げ × ミックスシフトの二重レバレッジで粗利率改善</a:t>
            </a:r>
          </a:p>
          <a:p>
            <a:pPr algn="l">
              <a:lnSpc>
                <a:spcPct val="130000"/>
              </a:lnSpc>
            </a:pPr>
            <a:r>
              <a:rPr sz="1800">
                <a:solidFill>
                  <a:srgbClr val="202020"/>
                </a:solidFill>
              </a:rPr>
              <a:t>•  市場は「ただの電気部品会社」と認識、ポジションの強さを過小評価</a:t>
            </a:r>
          </a:p>
          <a:p>
            <a:pPr algn="l">
              <a:lnSpc>
                <a:spcPct val="130000"/>
              </a:lnSpc>
            </a:pPr>
            <a:r>
              <a:rPr sz="1800">
                <a:solidFill>
                  <a:srgbClr val="202020"/>
                </a:solidFill>
              </a:rPr>
              <a:t>•  STRONG BUY!!</a:t>
            </a:r>
          </a:p>
        </p:txBody>
      </p:sp>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かわでんIR、関電工・きんでんIR、電設業界各社IR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成長を因数分解する</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売上 = 新規 + リニューアル / 粗利 = 各セグメント × 粗利率</a:t>
            </a:r>
          </a:p>
        </p:txBody>
      </p:sp>
      <p:sp>
        <p:nvSpPr>
          <p:cNvPr id="5" name="TextBox 4"/>
          <p:cNvSpPr txBox="1"/>
          <p:nvPr/>
        </p:nvSpPr>
        <p:spPr>
          <a:xfrm>
            <a:off x="731520" y="2286000"/>
            <a:ext cx="10728655" cy="3977640"/>
          </a:xfrm>
          <a:prstGeom prst="rect">
            <a:avLst/>
          </a:prstGeom>
          <a:noFill/>
        </p:spPr>
        <p:txBody>
          <a:bodyPr wrap="none" tIns="91440">
            <a:spAutoFit/>
          </a:bodyPr>
          <a:lstStyle/>
          <a:p>
            <a:pPr>
              <a:lnSpc>
                <a:spcPct val="120000"/>
              </a:lnSpc>
            </a:pPr>
            <a:r>
              <a:rPr sz="1500">
                <a:solidFill>
                  <a:srgbClr val="202020"/>
                </a:solidFill>
                <a:latin typeface="Courier New"/>
              </a:rPr>
              <a:t>売上高 = 新規案件売上 + リニューアル売上
粗利  = 新規案件売上 × 新規粗利率
       + リニューアル売上 × リニューアル粗利率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因数分解：各因数の方向</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値上げ × ミックスシフトで営利率5% → 21% へ</a:t>
            </a:r>
          </a:p>
        </p:txBody>
      </p:sp>
      <p:graphicFrame>
        <p:nvGraphicFramePr>
          <p:cNvPr id="5" name="Table 4"/>
          <p:cNvGraphicFramePr>
            <a:graphicFrameLocks noGrp="1"/>
          </p:cNvGraphicFramePr>
          <p:nvPr/>
        </p:nvGraphicFramePr>
        <p:xfrm>
          <a:off x="457200" y="2286000"/>
          <a:ext cx="11277295" cy="2743200"/>
        </p:xfrm>
        <a:graphic>
          <a:graphicData uri="http://schemas.openxmlformats.org/drawingml/2006/table">
            <a:tbl>
              <a:tblPr firstRow="1" bandRow="1">
                <a:tableStyleId>{5C22544A-7EE6-4342-B048-85BDC9FD1C3A}</a:tableStyleId>
              </a:tblPr>
              <a:tblGrid>
                <a:gridCol w="3759098"/>
                <a:gridCol w="3759098"/>
                <a:gridCol w="3759099"/>
              </a:tblGrid>
              <a:tr h="457200">
                <a:tc>
                  <a:txBody>
                    <a:bodyPr/>
                    <a:lstStyle/>
                    <a:p>
                      <a:pPr algn="ctr"/>
                      <a:r>
                        <a:rPr b="1" sz="1500">
                          <a:solidFill>
                            <a:srgbClr val="FFFFFF"/>
                          </a:solidFill>
                        </a:rPr>
                        <a:t>因数</a:t>
                      </a:r>
                    </a:p>
                  </a:txBody>
                  <a:tcPr marL="73152" marR="73152" marT="36576" marB="36576" anchor="ctr">
                    <a:solidFill>
                      <a:srgbClr val="1F4E78"/>
                    </a:solidFill>
                  </a:tcPr>
                </a:tc>
                <a:tc>
                  <a:txBody>
                    <a:bodyPr/>
                    <a:lstStyle/>
                    <a:p>
                      <a:pPr algn="ctr"/>
                      <a:r>
                        <a:rPr b="1" sz="1500">
                          <a:solidFill>
                            <a:srgbClr val="FFFFFF"/>
                          </a:solidFill>
                        </a:rPr>
                        <a:t>方向</a:t>
                      </a:r>
                    </a:p>
                  </a:txBody>
                  <a:tcPr marL="73152" marR="73152" marT="36576" marB="36576" anchor="ctr">
                    <a:solidFill>
                      <a:srgbClr val="1F4E78"/>
                    </a:solidFill>
                  </a:tcPr>
                </a:tc>
                <a:tc>
                  <a:txBody>
                    <a:bodyPr/>
                    <a:lstStyle/>
                    <a:p>
                      <a:pPr algn="ctr"/>
                      <a:r>
                        <a:rPr b="1" sz="1500">
                          <a:solidFill>
                            <a:srgbClr val="FFFFFF"/>
                          </a:solidFill>
                        </a:rPr>
                        <a:t>なぜ動くか</a:t>
                      </a:r>
                    </a:p>
                  </a:txBody>
                  <a:tcPr marL="73152" marR="73152" marT="36576" marB="36576" anchor="ctr">
                    <a:solidFill>
                      <a:srgbClr val="1F4E78"/>
                    </a:solidFill>
                  </a:tcPr>
                </a:tc>
              </a:tr>
              <a:tr h="457200">
                <a:tc>
                  <a:txBody>
                    <a:bodyPr/>
                    <a:lstStyle/>
                    <a:p>
                      <a:pPr algn="l"/>
                      <a:r>
                        <a:rPr sz="1400">
                          <a:solidFill>
                            <a:srgbClr val="202020"/>
                          </a:solidFill>
                        </a:rPr>
                        <a:t>新規案件売上</a:t>
                      </a:r>
                    </a:p>
                  </a:txBody>
                  <a:tcPr marL="73152" marR="73152" marT="36576" marB="36576" anchor="ctr">
                    <a:solidFill>
                      <a:srgbClr val="FFFFFF"/>
                    </a:solidFill>
                  </a:tcPr>
                </a:tc>
                <a:tc>
                  <a:txBody>
                    <a:bodyPr/>
                    <a:lstStyle/>
                    <a:p>
                      <a:pPr algn="l"/>
                      <a:r>
                        <a:rPr sz="1400">
                          <a:solidFill>
                            <a:srgbClr val="202020"/>
                          </a:solidFill>
                        </a:rPr>
                        <a:t>↑ +10%/年</a:t>
                      </a:r>
                    </a:p>
                  </a:txBody>
                  <a:tcPr marL="73152" marR="73152" marT="36576" marB="36576" anchor="ctr">
                    <a:solidFill>
                      <a:srgbClr val="FFFFFF"/>
                    </a:solidFill>
                  </a:tcPr>
                </a:tc>
                <a:tc>
                  <a:txBody>
                    <a:bodyPr/>
                    <a:lstStyle/>
                    <a:p>
                      <a:pPr algn="l"/>
                      <a:r>
                        <a:rPr sz="1400">
                          <a:solidFill>
                            <a:srgbClr val="202020"/>
                          </a:solidFill>
                        </a:rPr>
                        <a:t>マクロ需要連動、電設サブコン単価+5-10%</a:t>
                      </a:r>
                    </a:p>
                  </a:txBody>
                  <a:tcPr marL="73152" marR="73152" marT="36576" marB="36576" anchor="ctr">
                    <a:solidFill>
                      <a:srgbClr val="FFFFFF"/>
                    </a:solidFill>
                  </a:tcPr>
                </a:tc>
              </a:tr>
              <a:tr h="457200">
                <a:tc>
                  <a:txBody>
                    <a:bodyPr/>
                    <a:lstStyle/>
                    <a:p>
                      <a:pPr algn="l"/>
                      <a:r>
                        <a:rPr sz="1400">
                          <a:solidFill>
                            <a:srgbClr val="202020"/>
                          </a:solidFill>
                        </a:rPr>
                        <a:t>リニューアル売上</a:t>
                      </a:r>
                    </a:p>
                  </a:txBody>
                  <a:tcPr marL="73152" marR="73152" marT="36576" marB="36576" anchor="ctr">
                    <a:solidFill>
                      <a:srgbClr val="F5F5F5"/>
                    </a:solidFill>
                  </a:tcPr>
                </a:tc>
                <a:tc>
                  <a:txBody>
                    <a:bodyPr/>
                    <a:lstStyle/>
                    <a:p>
                      <a:pPr algn="l"/>
                      <a:r>
                        <a:rPr sz="1400">
                          <a:solidFill>
                            <a:srgbClr val="202020"/>
                          </a:solidFill>
                        </a:rPr>
                        <a:t>↑ +15%/年</a:t>
                      </a:r>
                    </a:p>
                  </a:txBody>
                  <a:tcPr marL="73152" marR="73152" marT="36576" marB="36576" anchor="ctr">
                    <a:solidFill>
                      <a:srgbClr val="F5F5F5"/>
                    </a:solidFill>
                  </a:tcPr>
                </a:tc>
                <a:tc>
                  <a:txBody>
                    <a:bodyPr/>
                    <a:lstStyle/>
                    <a:p>
                      <a:pPr algn="l"/>
                      <a:r>
                        <a:rPr sz="1400">
                          <a:solidFill>
                            <a:srgbClr val="202020"/>
                          </a:solidFill>
                        </a:rPr>
                        <a:t>マクロ+10% + 営業注力+5%</a:t>
                      </a:r>
                    </a:p>
                  </a:txBody>
                  <a:tcPr marL="73152" marR="73152" marT="36576" marB="36576" anchor="ctr">
                    <a:solidFill>
                      <a:srgbClr val="F5F5F5"/>
                    </a:solidFill>
                  </a:tcPr>
                </a:tc>
              </a:tr>
              <a:tr h="457200">
                <a:tc>
                  <a:txBody>
                    <a:bodyPr/>
                    <a:lstStyle/>
                    <a:p>
                      <a:pPr algn="l"/>
                      <a:r>
                        <a:rPr sz="1400">
                          <a:solidFill>
                            <a:srgbClr val="202020"/>
                          </a:solidFill>
                        </a:rPr>
                        <a:t>新規粗利率</a:t>
                      </a:r>
                    </a:p>
                  </a:txBody>
                  <a:tcPr marL="73152" marR="73152" marT="36576" marB="36576" anchor="ctr">
                    <a:solidFill>
                      <a:srgbClr val="FFFFFF"/>
                    </a:solidFill>
                  </a:tcPr>
                </a:tc>
                <a:tc>
                  <a:txBody>
                    <a:bodyPr/>
                    <a:lstStyle/>
                    <a:p>
                      <a:pPr algn="l"/>
                      <a:r>
                        <a:rPr sz="1400">
                          <a:solidFill>
                            <a:srgbClr val="202020"/>
                          </a:solidFill>
                        </a:rPr>
                        <a:t>↑ 30→42%</a:t>
                      </a:r>
                    </a:p>
                  </a:txBody>
                  <a:tcPr marL="73152" marR="73152" marT="36576" marB="36576" anchor="ctr">
                    <a:solidFill>
                      <a:srgbClr val="FFFFFF"/>
                    </a:solidFill>
                  </a:tcPr>
                </a:tc>
                <a:tc>
                  <a:txBody>
                    <a:bodyPr/>
                    <a:lstStyle/>
                    <a:p>
                      <a:pPr algn="l"/>
                      <a:r>
                        <a:rPr sz="1400">
                          <a:solidFill>
                            <a:srgbClr val="202020"/>
                          </a:solidFill>
                        </a:rPr>
                        <a:t>顧客の電設サブコン業績改善で値上げ通る</a:t>
                      </a:r>
                    </a:p>
                  </a:txBody>
                  <a:tcPr marL="73152" marR="73152" marT="36576" marB="36576" anchor="ctr">
                    <a:solidFill>
                      <a:srgbClr val="FFFFFF"/>
                    </a:solidFill>
                  </a:tcPr>
                </a:tc>
              </a:tr>
              <a:tr h="457200">
                <a:tc>
                  <a:txBody>
                    <a:bodyPr/>
                    <a:lstStyle/>
                    <a:p>
                      <a:pPr algn="l"/>
                      <a:r>
                        <a:rPr sz="1400">
                          <a:solidFill>
                            <a:srgbClr val="202020"/>
                          </a:solidFill>
                        </a:rPr>
                        <a:t>リニューアル粗利率</a:t>
                      </a:r>
                    </a:p>
                  </a:txBody>
                  <a:tcPr marL="73152" marR="73152" marT="36576" marB="36576" anchor="ctr">
                    <a:solidFill>
                      <a:srgbClr val="F5F5F5"/>
                    </a:solidFill>
                  </a:tcPr>
                </a:tc>
                <a:tc>
                  <a:txBody>
                    <a:bodyPr/>
                    <a:lstStyle/>
                    <a:p>
                      <a:pPr algn="l"/>
                      <a:r>
                        <a:rPr sz="1400">
                          <a:solidFill>
                            <a:srgbClr val="202020"/>
                          </a:solidFill>
                        </a:rPr>
                        <a:t>↑ 40→52%</a:t>
                      </a:r>
                    </a:p>
                  </a:txBody>
                  <a:tcPr marL="73152" marR="73152" marT="36576" marB="36576" anchor="ctr">
                    <a:solidFill>
                      <a:srgbClr val="F5F5F5"/>
                    </a:solidFill>
                  </a:tcPr>
                </a:tc>
                <a:tc>
                  <a:txBody>
                    <a:bodyPr/>
                    <a:lstStyle/>
                    <a:p>
                      <a:pPr algn="l"/>
                      <a:r>
                        <a:rPr sz="1400">
                          <a:solidFill>
                            <a:srgbClr val="202020"/>
                          </a:solidFill>
                        </a:rPr>
                        <a:t>新規より構造的に10pt高い</a:t>
                      </a:r>
                    </a:p>
                  </a:txBody>
                  <a:tcPr marL="73152" marR="73152" marT="36576" marB="36576" anchor="ctr">
                    <a:solidFill>
                      <a:srgbClr val="F5F5F5"/>
                    </a:solidFill>
                  </a:tcPr>
                </a:tc>
              </a:tr>
              <a:tr h="457200">
                <a:tc>
                  <a:txBody>
                    <a:bodyPr/>
                    <a:lstStyle/>
                    <a:p>
                      <a:pPr algn="l"/>
                      <a:r>
                        <a:rPr sz="1400">
                          <a:solidFill>
                            <a:srgbClr val="202020"/>
                          </a:solidFill>
                        </a:rPr>
                        <a:t>販管費率</a:t>
                      </a:r>
                    </a:p>
                  </a:txBody>
                  <a:tcPr marL="73152" marR="73152" marT="36576" marB="36576" anchor="ctr">
                    <a:solidFill>
                      <a:srgbClr val="FFFFFF"/>
                    </a:solidFill>
                  </a:tcPr>
                </a:tc>
                <a:tc>
                  <a:txBody>
                    <a:bodyPr/>
                    <a:lstStyle/>
                    <a:p>
                      <a:pPr algn="l"/>
                      <a:r>
                        <a:rPr sz="1400">
                          <a:solidFill>
                            <a:srgbClr val="202020"/>
                          </a:solidFill>
                        </a:rPr>
                        <a:t>22→24% 横ばい</a:t>
                      </a:r>
                    </a:p>
                  </a:txBody>
                  <a:tcPr marL="73152" marR="73152" marT="36576" marB="36576" anchor="ctr">
                    <a:solidFill>
                      <a:srgbClr val="FFFFFF"/>
                    </a:solidFill>
                  </a:tcPr>
                </a:tc>
                <a:tc>
                  <a:txBody>
                    <a:bodyPr/>
                    <a:lstStyle/>
                    <a:p>
                      <a:pPr algn="l"/>
                      <a:r>
                        <a:rPr sz="1400">
                          <a:solidFill>
                            <a:srgbClr val="202020"/>
                          </a:solidFill>
                        </a:rPr>
                        <a:t>業績の伸びに対し相対的に固定</a:t>
                      </a:r>
                    </a:p>
                  </a:txBody>
                  <a:tcPr marL="73152" marR="73152" marT="36576" marB="36576"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なぜ市場が気づいていないか</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「ただの電気部品会社」認識が独占性と転換期を見落とし</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市場の認識: ただの電気部品会社、典型的な値嵩株</a:t>
            </a:r>
          </a:p>
          <a:p>
            <a:pPr algn="l">
              <a:lnSpc>
                <a:spcPct val="130000"/>
              </a:lnSpc>
            </a:pPr>
            <a:r>
              <a:rPr sz="1800">
                <a:solidFill>
                  <a:srgbClr val="202020"/>
                </a:solidFill>
              </a:rPr>
              <a:t>•  カスタム品事業: 日本唯一の上場会社という独占性が知られていない</a:t>
            </a:r>
          </a:p>
          <a:p>
            <a:pPr algn="l">
              <a:lnSpc>
                <a:spcPct val="130000"/>
              </a:lnSpc>
            </a:pPr>
            <a:r>
              <a:rPr sz="1800">
                <a:solidFill>
                  <a:srgbClr val="202020"/>
                </a:solidFill>
              </a:rPr>
              <a:t>•  リニューアル: バブル期建設物の交換期到来という構造需要が織り込まれない</a:t>
            </a:r>
          </a:p>
          <a:p>
            <a:pPr algn="l">
              <a:lnSpc>
                <a:spcPct val="130000"/>
              </a:lnSpc>
            </a:pPr>
            <a:r>
              <a:rPr sz="1800">
                <a:solidFill>
                  <a:srgbClr val="202020"/>
                </a:solidFill>
              </a:rPr>
              <a:t>•  顧客との力関係: 関電工・きんでんが大株主 → 優良案件集中が見えていない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目次</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45775" cy="4892040"/>
          </a:xfrm>
          <a:prstGeom prst="rect">
            <a:avLst/>
          </a:prstGeom>
          <a:noFill/>
        </p:spPr>
        <p:txBody>
          <a:bodyPr wrap="square" lIns="45720" rIns="45720">
            <a:spAutoFit/>
          </a:bodyPr>
          <a:lstStyle/>
          <a:p>
            <a:pPr algn="l">
              <a:lnSpc>
                <a:spcPct val="130000"/>
              </a:lnSpc>
            </a:pPr>
            <a:r>
              <a:rPr sz="2200">
                <a:solidFill>
                  <a:srgbClr val="1F4E78"/>
                </a:solidFill>
              </a:rPr>
              <a:t>▶  1️⃣ 基本情報</a:t>
            </a:r>
          </a:p>
          <a:p>
            <a:pPr algn="l">
              <a:lnSpc>
                <a:spcPct val="130000"/>
              </a:lnSpc>
            </a:pPr>
            <a:r>
              <a:rPr sz="2200">
                <a:solidFill>
                  <a:srgbClr val="1F4E78"/>
                </a:solidFill>
              </a:rPr>
              <a:t>▶  2️⃣ マクロ</a:t>
            </a:r>
          </a:p>
          <a:p>
            <a:pPr algn="l">
              <a:lnSpc>
                <a:spcPct val="130000"/>
              </a:lnSpc>
            </a:pPr>
            <a:r>
              <a:rPr sz="2200">
                <a:solidFill>
                  <a:srgbClr val="1F4E78"/>
                </a:solidFill>
              </a:rPr>
              <a:t>▶  3️⃣ ミクロ</a:t>
            </a:r>
          </a:p>
          <a:p>
            <a:pPr algn="l">
              <a:lnSpc>
                <a:spcPct val="130000"/>
              </a:lnSpc>
            </a:pPr>
            <a:r>
              <a:rPr sz="2200">
                <a:solidFill>
                  <a:srgbClr val="1F4E78"/>
                </a:solidFill>
              </a:rPr>
              <a:t>▶  4️⃣ バリュエーション</a:t>
            </a:r>
          </a:p>
          <a:p>
            <a:pPr algn="l">
              <a:lnSpc>
                <a:spcPct val="130000"/>
              </a:lnSpc>
            </a:pPr>
            <a:r>
              <a:rPr sz="2200">
                <a:solidFill>
                  <a:srgbClr val="1F4E78"/>
                </a:solidFill>
              </a:rPr>
              <a:t>▶  5️⃣ Appendix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0"/>
            <a:ext cx="11277295" cy="1645920"/>
          </a:xfrm>
          <a:prstGeom prst="rect">
            <a:avLst/>
          </a:prstGeom>
          <a:noFill/>
        </p:spPr>
        <p:txBody>
          <a:bodyPr wrap="square" lIns="45720" rIns="45720" tIns="18288" bIns="18288">
            <a:spAutoFit/>
          </a:bodyPr>
          <a:lstStyle/>
          <a:p>
            <a:pPr algn="ctr"/>
            <a:r>
              <a:rPr sz="5800" b="1">
                <a:solidFill>
                  <a:srgbClr val="FFFFFF"/>
                </a:solidFill>
              </a:rPr>
              <a:t>1️⃣ 基本情報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会社の概要</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国内最大手シェア2割、新規7割+リニューアル3割</a:t>
            </a:r>
          </a:p>
        </p:txBody>
      </p:sp>
      <p:graphicFrame>
        <p:nvGraphicFramePr>
          <p:cNvPr id="5" name="Table 4"/>
          <p:cNvGraphicFramePr>
            <a:graphicFrameLocks noGrp="1"/>
          </p:cNvGraphicFramePr>
          <p:nvPr/>
        </p:nvGraphicFramePr>
        <p:xfrm>
          <a:off x="457200" y="2286000"/>
          <a:ext cx="11277295" cy="3200400"/>
        </p:xfrm>
        <a:graphic>
          <a:graphicData uri="http://schemas.openxmlformats.org/drawingml/2006/table">
            <a:tbl>
              <a:tblPr firstRow="1" bandRow="1">
                <a:tableStyleId>{5C22544A-7EE6-4342-B048-85BDC9FD1C3A}</a:tableStyleId>
              </a:tblPr>
              <a:tblGrid>
                <a:gridCol w="5638647"/>
                <a:gridCol w="5638648"/>
              </a:tblGrid>
              <a:tr h="457200">
                <a:tc>
                  <a:txBody>
                    <a:bodyPr/>
                    <a:lstStyle/>
                    <a:p>
                      <a:pPr algn="ctr"/>
                      <a:r>
                        <a:rPr b="1" sz="1500">
                          <a:solidFill>
                            <a:srgbClr val="FFFFFF"/>
                          </a:solidFill>
                        </a:rPr>
                        <a:t>項目</a:t>
                      </a:r>
                    </a:p>
                  </a:txBody>
                  <a:tcPr marL="73152" marR="73152" marT="36576" marB="36576" anchor="ctr">
                    <a:solidFill>
                      <a:srgbClr val="1F4E78"/>
                    </a:solidFill>
                  </a:tcPr>
                </a:tc>
                <a:tc>
                  <a:txBody>
                    <a:bodyPr/>
                    <a:lstStyle/>
                    <a:p>
                      <a:pPr algn="ctr"/>
                      <a:r>
                        <a:rPr b="1" sz="1500">
                          <a:solidFill>
                            <a:srgbClr val="FFFFFF"/>
                          </a:solidFill>
                        </a:rPr>
                        <a:t>内容</a:t>
                      </a:r>
                    </a:p>
                  </a:txBody>
                  <a:tcPr marL="73152" marR="73152" marT="36576" marB="36576" anchor="ctr">
                    <a:solidFill>
                      <a:srgbClr val="1F4E78"/>
                    </a:solidFill>
                  </a:tcPr>
                </a:tc>
              </a:tr>
              <a:tr h="457200">
                <a:tc>
                  <a:txBody>
                    <a:bodyPr/>
                    <a:lstStyle/>
                    <a:p>
                      <a:pPr algn="l"/>
                      <a:r>
                        <a:rPr sz="1400">
                          <a:solidFill>
                            <a:srgbClr val="202020"/>
                          </a:solidFill>
                        </a:rPr>
                        <a:t>銘柄コード</a:t>
                      </a:r>
                    </a:p>
                  </a:txBody>
                  <a:tcPr marL="73152" marR="73152" marT="36576" marB="36576" anchor="ctr">
                    <a:solidFill>
                      <a:srgbClr val="FFFFFF"/>
                    </a:solidFill>
                  </a:tcPr>
                </a:tc>
                <a:tc>
                  <a:txBody>
                    <a:bodyPr/>
                    <a:lstStyle/>
                    <a:p>
                      <a:pPr algn="l"/>
                      <a:r>
                        <a:rPr sz="1400">
                          <a:solidFill>
                            <a:srgbClr val="202020"/>
                          </a:solidFill>
                        </a:rPr>
                        <a:t>6648 (東証プライム)</a:t>
                      </a:r>
                    </a:p>
                  </a:txBody>
                  <a:tcPr marL="73152" marR="73152" marT="36576" marB="36576" anchor="ctr">
                    <a:solidFill>
                      <a:srgbClr val="FFFFFF"/>
                    </a:solidFill>
                  </a:tcPr>
                </a:tc>
              </a:tr>
              <a:tr h="457200">
                <a:tc>
                  <a:txBody>
                    <a:bodyPr/>
                    <a:lstStyle/>
                    <a:p>
                      <a:pPr algn="l"/>
                      <a:r>
                        <a:rPr sz="1400">
                          <a:solidFill>
                            <a:srgbClr val="202020"/>
                          </a:solidFill>
                        </a:rPr>
                        <a:t>主事業</a:t>
                      </a:r>
                    </a:p>
                  </a:txBody>
                  <a:tcPr marL="73152" marR="73152" marT="36576" marB="36576" anchor="ctr">
                    <a:solidFill>
                      <a:srgbClr val="F5F5F5"/>
                    </a:solidFill>
                  </a:tcPr>
                </a:tc>
                <a:tc>
                  <a:txBody>
                    <a:bodyPr/>
                    <a:lstStyle/>
                    <a:p>
                      <a:pPr algn="l"/>
                      <a:r>
                        <a:rPr sz="1400">
                          <a:solidFill>
                            <a:srgbClr val="202020"/>
                          </a:solidFill>
                        </a:rPr>
                        <a:t>配電盤・分電盤・DC向け電気設備の製造販売</a:t>
                      </a:r>
                    </a:p>
                  </a:txBody>
                  <a:tcPr marL="73152" marR="73152" marT="36576" marB="36576" anchor="ctr">
                    <a:solidFill>
                      <a:srgbClr val="F5F5F5"/>
                    </a:solidFill>
                  </a:tcPr>
                </a:tc>
              </a:tr>
              <a:tr h="457200">
                <a:tc>
                  <a:txBody>
                    <a:bodyPr/>
                    <a:lstStyle/>
                    <a:p>
                      <a:pPr algn="l"/>
                      <a:r>
                        <a:rPr sz="1400">
                          <a:solidFill>
                            <a:srgbClr val="202020"/>
                          </a:solidFill>
                        </a:rPr>
                        <a:t>顧客</a:t>
                      </a:r>
                    </a:p>
                  </a:txBody>
                  <a:tcPr marL="73152" marR="73152" marT="36576" marB="36576" anchor="ctr">
                    <a:solidFill>
                      <a:srgbClr val="FFFFFF"/>
                    </a:solidFill>
                  </a:tcPr>
                </a:tc>
                <a:tc>
                  <a:txBody>
                    <a:bodyPr/>
                    <a:lstStyle/>
                    <a:p>
                      <a:pPr algn="l"/>
                      <a:r>
                        <a:rPr sz="1400">
                          <a:solidFill>
                            <a:srgbClr val="202020"/>
                          </a:solidFill>
                        </a:rPr>
                        <a:t>関電工・きんでんなどの電設サブコン</a:t>
                      </a:r>
                    </a:p>
                  </a:txBody>
                  <a:tcPr marL="73152" marR="73152" marT="36576" marB="36576" anchor="ctr">
                    <a:solidFill>
                      <a:srgbClr val="FFFFFF"/>
                    </a:solidFill>
                  </a:tcPr>
                </a:tc>
              </a:tr>
              <a:tr h="457200">
                <a:tc>
                  <a:txBody>
                    <a:bodyPr/>
                    <a:lstStyle/>
                    <a:p>
                      <a:pPr algn="l"/>
                      <a:r>
                        <a:rPr sz="1400">
                          <a:solidFill>
                            <a:srgbClr val="202020"/>
                          </a:solidFill>
                        </a:rPr>
                        <a:t>シェア</a:t>
                      </a:r>
                    </a:p>
                  </a:txBody>
                  <a:tcPr marL="73152" marR="73152" marT="36576" marB="36576" anchor="ctr">
                    <a:solidFill>
                      <a:srgbClr val="F5F5F5"/>
                    </a:solidFill>
                  </a:tcPr>
                </a:tc>
                <a:tc>
                  <a:txBody>
                    <a:bodyPr/>
                    <a:lstStyle/>
                    <a:p>
                      <a:pPr algn="l"/>
                      <a:r>
                        <a:rPr sz="1400">
                          <a:solidFill>
                            <a:srgbClr val="202020"/>
                          </a:solidFill>
                        </a:rPr>
                        <a:t>国内最大手で約2割(競合は非上場で売上100億未満が大半)</a:t>
                      </a:r>
                    </a:p>
                  </a:txBody>
                  <a:tcPr marL="73152" marR="73152" marT="36576" marB="36576" anchor="ctr">
                    <a:solidFill>
                      <a:srgbClr val="F5F5F5"/>
                    </a:solidFill>
                  </a:tcPr>
                </a:tc>
              </a:tr>
              <a:tr h="457200">
                <a:tc>
                  <a:txBody>
                    <a:bodyPr/>
                    <a:lstStyle/>
                    <a:p>
                      <a:pPr algn="l"/>
                      <a:r>
                        <a:rPr sz="1400">
                          <a:solidFill>
                            <a:srgbClr val="202020"/>
                          </a:solidFill>
                        </a:rPr>
                        <a:t>売上構成</a:t>
                      </a:r>
                    </a:p>
                  </a:txBody>
                  <a:tcPr marL="73152" marR="73152" marT="36576" marB="36576" anchor="ctr">
                    <a:solidFill>
                      <a:srgbClr val="FFFFFF"/>
                    </a:solidFill>
                  </a:tcPr>
                </a:tc>
                <a:tc>
                  <a:txBody>
                    <a:bodyPr/>
                    <a:lstStyle/>
                    <a:p>
                      <a:pPr algn="l"/>
                      <a:r>
                        <a:rPr sz="1400">
                          <a:solidFill>
                            <a:srgbClr val="202020"/>
                          </a:solidFill>
                        </a:rPr>
                        <a:t>新規 約7割 / リニューアル 約3割</a:t>
                      </a:r>
                    </a:p>
                  </a:txBody>
                  <a:tcPr marL="73152" marR="73152" marT="36576" marB="36576" anchor="ctr">
                    <a:solidFill>
                      <a:srgbClr val="FFFFFF"/>
                    </a:solidFill>
                  </a:tcPr>
                </a:tc>
              </a:tr>
              <a:tr h="457200">
                <a:tc>
                  <a:txBody>
                    <a:bodyPr/>
                    <a:lstStyle/>
                    <a:p>
                      <a:pPr algn="l"/>
                      <a:r>
                        <a:rPr sz="1400">
                          <a:solidFill>
                            <a:srgbClr val="202020"/>
                          </a:solidFill>
                        </a:rPr>
                        <a:t>創業</a:t>
                      </a:r>
                    </a:p>
                  </a:txBody>
                  <a:tcPr marL="73152" marR="73152" marT="36576" marB="36576" anchor="ctr">
                    <a:solidFill>
                      <a:srgbClr val="F5F5F5"/>
                    </a:solidFill>
                  </a:tcPr>
                </a:tc>
                <a:tc>
                  <a:txBody>
                    <a:bodyPr/>
                    <a:lstStyle/>
                    <a:p>
                      <a:pPr algn="l"/>
                      <a:r>
                        <a:rPr sz="1400">
                          <a:solidFill>
                            <a:srgbClr val="202020"/>
                          </a:solidFill>
                        </a:rPr>
                        <a:t>1925年(今年で創業100周年)</a:t>
                      </a:r>
                    </a:p>
                  </a:txBody>
                  <a:tcPr marL="73152" marR="73152" marT="36576" marB="36576" anchor="ctr">
                    <a:solidFill>
                      <a:srgbClr val="F5F5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配電盤・分電盤とは</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建物の電気の入り口、建設に必須の機器</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配電盤: 電力会社からの高圧電気をビル内で使える低圧に変成</a:t>
            </a:r>
          </a:p>
          <a:p>
            <a:pPr algn="l">
              <a:lnSpc>
                <a:spcPct val="130000"/>
              </a:lnSpc>
            </a:pPr>
            <a:r>
              <a:rPr sz="1800">
                <a:solidFill>
                  <a:srgbClr val="202020"/>
                </a:solidFill>
              </a:rPr>
              <a:t>•  分電盤: ブレーカーのこと</a:t>
            </a:r>
          </a:p>
          <a:p>
            <a:pPr algn="l">
              <a:lnSpc>
                <a:spcPct val="130000"/>
              </a:lnSpc>
            </a:pPr>
            <a:r>
              <a:rPr sz="1800">
                <a:solidFill>
                  <a:srgbClr val="202020"/>
                </a:solidFill>
              </a:rPr>
              <a:t>•  → 建物の電気の入り口、建設には必須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カスタム品と汎用品の違い</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カスタム品の上場会社は日本ではかわでんのみ</a:t>
            </a:r>
          </a:p>
        </p:txBody>
      </p:sp>
      <p:graphicFrame>
        <p:nvGraphicFramePr>
          <p:cNvPr id="5" name="Table 4"/>
          <p:cNvGraphicFramePr>
            <a:graphicFrameLocks noGrp="1"/>
          </p:cNvGraphicFramePr>
          <p:nvPr/>
        </p:nvGraphicFramePr>
        <p:xfrm>
          <a:off x="457200" y="2286000"/>
          <a:ext cx="11277295" cy="1371600"/>
        </p:xfrm>
        <a:graphic>
          <a:graphicData uri="http://schemas.openxmlformats.org/drawingml/2006/table">
            <a:tbl>
              <a:tblPr firstRow="1" bandRow="1">
                <a:tableStyleId>{5C22544A-7EE6-4342-B048-85BDC9FD1C3A}</a:tableStyleId>
              </a:tblPr>
              <a:tblGrid>
                <a:gridCol w="5638647"/>
                <a:gridCol w="5638648"/>
              </a:tblGrid>
              <a:tr h="457200">
                <a:tc>
                  <a:txBody>
                    <a:bodyPr/>
                    <a:lstStyle/>
                    <a:p>
                      <a:pPr algn="ctr"/>
                      <a:r>
                        <a:rPr b="1" sz="1500">
                          <a:solidFill>
                            <a:srgbClr val="FFFFFF"/>
                          </a:solidFill>
                        </a:rPr>
                        <a:t>用途</a:t>
                      </a:r>
                    </a:p>
                  </a:txBody>
                  <a:tcPr marL="73152" marR="73152" marT="36576" marB="36576" anchor="ctr">
                    <a:solidFill>
                      <a:srgbClr val="1F4E78"/>
                    </a:solidFill>
                  </a:tcPr>
                </a:tc>
                <a:tc>
                  <a:txBody>
                    <a:bodyPr/>
                    <a:lstStyle/>
                    <a:p>
                      <a:pPr algn="ctr"/>
                      <a:r>
                        <a:rPr b="1" sz="1500">
                          <a:solidFill>
                            <a:srgbClr val="FFFFFF"/>
                          </a:solidFill>
                        </a:rPr>
                        <a:t>製品</a:t>
                      </a:r>
                    </a:p>
                  </a:txBody>
                  <a:tcPr marL="73152" marR="73152" marT="36576" marB="36576" anchor="ctr">
                    <a:solidFill>
                      <a:srgbClr val="1F4E78"/>
                    </a:solidFill>
                  </a:tcPr>
                </a:tc>
              </a:tr>
              <a:tr h="457200">
                <a:tc>
                  <a:txBody>
                    <a:bodyPr/>
                    <a:lstStyle/>
                    <a:p>
                      <a:pPr algn="l"/>
                      <a:r>
                        <a:rPr sz="1400">
                          <a:solidFill>
                            <a:srgbClr val="202020"/>
                          </a:solidFill>
                        </a:rPr>
                        <a:t>一般戸建/中小マンション/ビル</a:t>
                      </a:r>
                    </a:p>
                  </a:txBody>
                  <a:tcPr marL="73152" marR="73152" marT="36576" marB="36576" anchor="ctr">
                    <a:solidFill>
                      <a:srgbClr val="FFFFFF"/>
                    </a:solidFill>
                  </a:tcPr>
                </a:tc>
                <a:tc>
                  <a:txBody>
                    <a:bodyPr/>
                    <a:lstStyle/>
                    <a:p>
                      <a:pPr algn="l"/>
                      <a:r>
                        <a:rPr sz="1400">
                          <a:solidFill>
                            <a:srgbClr val="202020"/>
                          </a:solidFill>
                        </a:rPr>
                        <a:t>汎用品で事足りる</a:t>
                      </a:r>
                    </a:p>
                  </a:txBody>
                  <a:tcPr marL="73152" marR="73152" marT="36576" marB="36576" anchor="ctr">
                    <a:solidFill>
                      <a:srgbClr val="FFFFFF"/>
                    </a:solidFill>
                  </a:tcPr>
                </a:tc>
              </a:tr>
              <a:tr h="457200">
                <a:tc>
                  <a:txBody>
                    <a:bodyPr/>
                    <a:lstStyle/>
                    <a:p>
                      <a:pPr algn="l"/>
                      <a:r>
                        <a:rPr sz="1400">
                          <a:solidFill>
                            <a:srgbClr val="202020"/>
                          </a:solidFill>
                        </a:rPr>
                        <a:t>高層ビル/DC/半導体工場/その他工場</a:t>
                      </a:r>
                    </a:p>
                  </a:txBody>
                  <a:tcPr marL="73152" marR="73152" marT="36576" marB="36576" anchor="ctr">
                    <a:solidFill>
                      <a:srgbClr val="F5F5F5"/>
                    </a:solidFill>
                  </a:tcPr>
                </a:tc>
                <a:tc>
                  <a:txBody>
                    <a:bodyPr/>
                    <a:lstStyle/>
                    <a:p>
                      <a:pPr algn="l"/>
                      <a:r>
                        <a:rPr sz="1400">
                          <a:solidFill>
                            <a:srgbClr val="202020"/>
                          </a:solidFill>
                        </a:rPr>
                        <a:t>カスタム品が必須(複雑構造)</a:t>
                      </a:r>
                    </a:p>
                  </a:txBody>
                  <a:tcPr marL="73152" marR="73152" marT="36576" marB="36576" anchor="ctr">
                    <a:solidFill>
                      <a:srgbClr val="F5F5F5"/>
                    </a:solidFill>
                  </a:tcPr>
                </a:tc>
              </a:tr>
            </a:tbl>
          </a:graphicData>
        </a:graphic>
      </p:graphicFrame>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他の上場配電盤会社は汎用品専門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製品の使い先</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AIブームの恩恵を最も直接的に受ける用途構成</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戸建ては全くなく、ほぼすべて非住宅(タワマンも数%)</a:t>
            </a:r>
          </a:p>
          <a:p>
            <a:pPr algn="l">
              <a:lnSpc>
                <a:spcPct val="130000"/>
              </a:lnSpc>
            </a:pPr>
            <a:r>
              <a:rPr sz="1800">
                <a:solidFill>
                  <a:srgbClr val="202020"/>
                </a:solidFill>
              </a:rPr>
              <a:t>•  首都圏再開発の高層ビル、データセンター、半導体工場</a:t>
            </a:r>
          </a:p>
          <a:p>
            <a:pPr algn="l">
              <a:lnSpc>
                <a:spcPct val="130000"/>
              </a:lnSpc>
            </a:pPr>
            <a:r>
              <a:rPr sz="1800">
                <a:solidFill>
                  <a:srgbClr val="202020"/>
                </a:solidFill>
              </a:rPr>
              <a:t>•  国内回帰した製造業の工場、自衛隊基地などが多め</a:t>
            </a:r>
          </a:p>
          <a:p>
            <a:pPr algn="l">
              <a:lnSpc>
                <a:spcPct val="130000"/>
              </a:lnSpc>
            </a:pPr>
            <a:r>
              <a:rPr sz="1800">
                <a:solidFill>
                  <a:srgbClr val="202020"/>
                </a:solidFill>
              </a:rPr>
              <a:t>•  → AIブームの恩恵を最も直接的に受ける用途構成</a:t>
            </a:r>
          </a:p>
        </p:txBody>
      </p:sp>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かわでんIR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リニューアル事業について</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バブル期の自顧客リスト = 超強力な営業資産</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既導入建物のメンテナンス・点検・部品交換</a:t>
            </a:r>
          </a:p>
          <a:p>
            <a:pPr algn="l">
              <a:lnSpc>
                <a:spcPct val="130000"/>
              </a:lnSpc>
            </a:pPr>
            <a:r>
              <a:rPr sz="1800">
                <a:solidFill>
                  <a:srgbClr val="202020"/>
                </a:solidFill>
              </a:rPr>
              <a:t>•  配電盤の耐久15-20年、バブル期建設の建物が一斉に交換期</a:t>
            </a:r>
          </a:p>
          <a:p>
            <a:pPr algn="l">
              <a:lnSpc>
                <a:spcPct val="130000"/>
              </a:lnSpc>
            </a:pPr>
            <a:r>
              <a:rPr sz="1800">
                <a:solidFill>
                  <a:srgbClr val="202020"/>
                </a:solidFill>
              </a:rPr>
              <a:t>•  創業100周年、中計で構造改革を宣言</a:t>
            </a:r>
          </a:p>
          <a:p>
            <a:pPr algn="l">
              <a:lnSpc>
                <a:spcPct val="130000"/>
              </a:lnSpc>
            </a:pPr>
            <a:r>
              <a:rPr sz="1800">
                <a:solidFill>
                  <a:srgbClr val="202020"/>
                </a:solidFill>
              </a:rPr>
              <a:t>•  他社はこのリニューアル事業を代替できない(後述)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目次(マクロへ)</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45775" cy="4892040"/>
          </a:xfrm>
          <a:prstGeom prst="rect">
            <a:avLst/>
          </a:prstGeom>
          <a:noFill/>
        </p:spPr>
        <p:txBody>
          <a:bodyPr wrap="square" lIns="45720" rIns="45720">
            <a:spAutoFit/>
          </a:bodyPr>
          <a:lstStyle/>
          <a:p>
            <a:pPr algn="l">
              <a:lnSpc>
                <a:spcPct val="130000"/>
              </a:lnSpc>
            </a:pPr>
            <a:r>
              <a:rPr sz="2200">
                <a:solidFill>
                  <a:srgbClr val="1F4E78"/>
                </a:solidFill>
              </a:rPr>
              <a:t>▶  ▶ 2️⃣ マクロ</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0"/>
            <a:ext cx="11277295" cy="1645920"/>
          </a:xfrm>
          <a:prstGeom prst="rect">
            <a:avLst/>
          </a:prstGeom>
          <a:noFill/>
        </p:spPr>
        <p:txBody>
          <a:bodyPr wrap="square" lIns="45720" rIns="45720" tIns="18288" bIns="18288">
            <a:spAutoFit/>
          </a:bodyPr>
          <a:lstStyle/>
          <a:p>
            <a:pPr algn="ctr"/>
            <a:r>
              <a:rPr sz="5800" b="1">
                <a:solidFill>
                  <a:srgbClr val="FFFFFF"/>
                </a:solidFill>
              </a:rPr>
              <a:t>2️⃣ マクロ</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様々な需要が流入中</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これだけの追い風が一業界に同時に来るのは滅多にない</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首都圏ビル再開発、データセンター、半導体工場</a:t>
            </a:r>
          </a:p>
          <a:p>
            <a:pPr algn="l">
              <a:lnSpc>
                <a:spcPct val="130000"/>
              </a:lnSpc>
            </a:pPr>
            <a:r>
              <a:rPr sz="1800">
                <a:solidFill>
                  <a:srgbClr val="202020"/>
                </a:solidFill>
              </a:rPr>
              <a:t>•  自衛隊防衛関連施設、火力・太陽光発電所</a:t>
            </a:r>
          </a:p>
          <a:p>
            <a:pPr algn="l">
              <a:lnSpc>
                <a:spcPct val="130000"/>
              </a:lnSpc>
            </a:pPr>
            <a:r>
              <a:rPr sz="1800">
                <a:solidFill>
                  <a:srgbClr val="202020"/>
                </a:solidFill>
              </a:rPr>
              <a:t>•  系統用蓄電池の設置</a:t>
            </a:r>
          </a:p>
          <a:p>
            <a:pPr algn="l">
              <a:lnSpc>
                <a:spcPct val="130000"/>
              </a:lnSpc>
            </a:pPr>
            <a:r>
              <a:rPr sz="1800">
                <a:solidFill>
                  <a:srgbClr val="202020"/>
                </a:solidFill>
              </a:rPr>
              <a:t>•  電線などのインフラ更新需要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業界全体の受注残が急増</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今後数年間、需給ひっ迫は変わらない見通し</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電設業界各社IR: 受注は非常に好調</a:t>
            </a:r>
          </a:p>
          <a:p>
            <a:pPr algn="l">
              <a:lnSpc>
                <a:spcPct val="130000"/>
              </a:lnSpc>
            </a:pPr>
            <a:r>
              <a:rPr sz="1800">
                <a:solidFill>
                  <a:srgbClr val="202020"/>
                </a:solidFill>
              </a:rPr>
              <a:t>•  受注残が積みあがる状態は今後数年変わりそうにない</a:t>
            </a:r>
          </a:p>
          <a:p>
            <a:pPr algn="l">
              <a:lnSpc>
                <a:spcPct val="130000"/>
              </a:lnSpc>
            </a:pPr>
            <a:r>
              <a:rPr sz="1800">
                <a:solidFill>
                  <a:srgbClr val="202020"/>
                </a:solidFill>
              </a:rPr>
              <a:t>•  → かわでんへの長期的需要が確保される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しかし、肝心の電気工事士が足りない</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求人倍率は全国平均の約3倍</a:t>
            </a:r>
          </a:p>
        </p:txBody>
      </p:sp>
      <p:graphicFrame>
        <p:nvGraphicFramePr>
          <p:cNvPr id="5" name="Table 4"/>
          <p:cNvGraphicFramePr>
            <a:graphicFrameLocks noGrp="1"/>
          </p:cNvGraphicFramePr>
          <p:nvPr/>
        </p:nvGraphicFramePr>
        <p:xfrm>
          <a:off x="457200" y="2286000"/>
          <a:ext cx="11277295" cy="1371600"/>
        </p:xfrm>
        <a:graphic>
          <a:graphicData uri="http://schemas.openxmlformats.org/drawingml/2006/table">
            <a:tbl>
              <a:tblPr firstRow="1" bandRow="1">
                <a:tableStyleId>{5C22544A-7EE6-4342-B048-85BDC9FD1C3A}</a:tableStyleId>
              </a:tblPr>
              <a:tblGrid>
                <a:gridCol w="5638647"/>
                <a:gridCol w="5638648"/>
              </a:tblGrid>
              <a:tr h="457200">
                <a:tc>
                  <a:txBody>
                    <a:bodyPr/>
                    <a:lstStyle/>
                    <a:p>
                      <a:pPr algn="ctr"/>
                      <a:r>
                        <a:rPr b="1" sz="1500">
                          <a:solidFill>
                            <a:srgbClr val="FFFFFF"/>
                          </a:solidFill>
                        </a:rPr>
                        <a:t>指標</a:t>
                      </a:r>
                    </a:p>
                  </a:txBody>
                  <a:tcPr marL="73152" marR="73152" marT="36576" marB="36576" anchor="ctr">
                    <a:solidFill>
                      <a:srgbClr val="1F4E78"/>
                    </a:solidFill>
                  </a:tcPr>
                </a:tc>
                <a:tc>
                  <a:txBody>
                    <a:bodyPr/>
                    <a:lstStyle/>
                    <a:p>
                      <a:pPr algn="ctr"/>
                      <a:r>
                        <a:rPr b="1" sz="1500">
                          <a:solidFill>
                            <a:srgbClr val="FFFFFF"/>
                          </a:solidFill>
                        </a:rPr>
                        <a:t>数値</a:t>
                      </a:r>
                    </a:p>
                  </a:txBody>
                  <a:tcPr marL="73152" marR="73152" marT="36576" marB="36576" anchor="ctr">
                    <a:solidFill>
                      <a:srgbClr val="1F4E78"/>
                    </a:solidFill>
                  </a:tcPr>
                </a:tc>
              </a:tr>
              <a:tr h="457200">
                <a:tc>
                  <a:txBody>
                    <a:bodyPr/>
                    <a:lstStyle/>
                    <a:p>
                      <a:pPr algn="l"/>
                      <a:r>
                        <a:rPr sz="1400">
                          <a:solidFill>
                            <a:srgbClr val="202020"/>
                          </a:solidFill>
                        </a:rPr>
                        <a:t>国内全体の有効求人倍率</a:t>
                      </a:r>
                    </a:p>
                  </a:txBody>
                  <a:tcPr marL="73152" marR="73152" marT="36576" marB="36576" anchor="ctr">
                    <a:solidFill>
                      <a:srgbClr val="FFFFFF"/>
                    </a:solidFill>
                  </a:tcPr>
                </a:tc>
                <a:tc>
                  <a:txBody>
                    <a:bodyPr/>
                    <a:lstStyle/>
                    <a:p>
                      <a:pPr algn="l"/>
                      <a:r>
                        <a:rPr sz="1400">
                          <a:solidFill>
                            <a:srgbClr val="202020"/>
                          </a:solidFill>
                        </a:rPr>
                        <a:t>1.3倍</a:t>
                      </a:r>
                    </a:p>
                  </a:txBody>
                  <a:tcPr marL="73152" marR="73152" marT="36576" marB="36576" anchor="ctr">
                    <a:solidFill>
                      <a:srgbClr val="FFFFFF"/>
                    </a:solidFill>
                  </a:tcPr>
                </a:tc>
              </a:tr>
              <a:tr h="457200">
                <a:tc>
                  <a:txBody>
                    <a:bodyPr/>
                    <a:lstStyle/>
                    <a:p>
                      <a:pPr algn="l"/>
                      <a:r>
                        <a:rPr sz="1400">
                          <a:solidFill>
                            <a:srgbClr val="202020"/>
                          </a:solidFill>
                        </a:rPr>
                        <a:t>電気工事士の求人倍率</a:t>
                      </a:r>
                    </a:p>
                  </a:txBody>
                  <a:tcPr marL="73152" marR="73152" marT="36576" marB="36576" anchor="ctr">
                    <a:solidFill>
                      <a:srgbClr val="F5F5F5"/>
                    </a:solidFill>
                  </a:tcPr>
                </a:tc>
                <a:tc>
                  <a:txBody>
                    <a:bodyPr/>
                    <a:lstStyle/>
                    <a:p>
                      <a:pPr algn="l"/>
                      <a:r>
                        <a:rPr sz="1400">
                          <a:solidFill>
                            <a:srgbClr val="202020"/>
                          </a:solidFill>
                        </a:rPr>
                        <a:t>3.6倍 (全国平均の約3倍)</a:t>
                      </a:r>
                    </a:p>
                  </a:txBody>
                  <a:tcPr marL="73152" marR="73152" marT="36576" marB="36576" anchor="ctr">
                    <a:solidFill>
                      <a:srgbClr val="F5F5F5"/>
                    </a:solidFill>
                  </a:tcPr>
                </a:tc>
              </a:tr>
            </a:tbl>
          </a:graphicData>
        </a:graphic>
      </p:graphicFrame>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IR: 人手不足は今後数年変わらない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結果、工事単価と粗利率が爆上がり</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関電工・きんでんの粗利&amp;株価が急上昇</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業界最大手の関電工、きんでんの粗利と株価は急上昇</a:t>
            </a:r>
          </a:p>
          <a:p>
            <a:pPr algn="l">
              <a:lnSpc>
                <a:spcPct val="130000"/>
              </a:lnSpc>
            </a:pPr>
            <a:r>
              <a:rPr sz="1800">
                <a:solidFill>
                  <a:srgbClr val="202020"/>
                </a:solidFill>
              </a:rPr>
              <a:t>•  顧客(電設サブコン)が儲かるからかわでんの値上げも通る</a:t>
            </a:r>
          </a:p>
          <a:p>
            <a:pPr algn="l">
              <a:lnSpc>
                <a:spcPct val="130000"/>
              </a:lnSpc>
            </a:pPr>
            <a:r>
              <a:rPr sz="1800">
                <a:solidFill>
                  <a:srgbClr val="202020"/>
                </a:solidFill>
              </a:rPr>
              <a:t>•  → コバンザメ戦略が成立する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目次(ミクロへ)</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45775" cy="4892040"/>
          </a:xfrm>
          <a:prstGeom prst="rect">
            <a:avLst/>
          </a:prstGeom>
          <a:noFill/>
        </p:spPr>
        <p:txBody>
          <a:bodyPr wrap="square" lIns="45720" rIns="45720">
            <a:spAutoFit/>
          </a:bodyPr>
          <a:lstStyle/>
          <a:p>
            <a:pPr algn="l">
              <a:lnSpc>
                <a:spcPct val="130000"/>
              </a:lnSpc>
            </a:pPr>
            <a:r>
              <a:rPr sz="2200">
                <a:solidFill>
                  <a:srgbClr val="1F4E78"/>
                </a:solidFill>
              </a:rPr>
              <a:t>▶  ▶ 3️⃣ ミクロ</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0"/>
            <a:ext cx="11277295" cy="1645920"/>
          </a:xfrm>
          <a:prstGeom prst="rect">
            <a:avLst/>
          </a:prstGeom>
          <a:noFill/>
        </p:spPr>
        <p:txBody>
          <a:bodyPr wrap="square" lIns="45720" rIns="45720" tIns="18288" bIns="18288">
            <a:spAutoFit/>
          </a:bodyPr>
          <a:lstStyle/>
          <a:p>
            <a:pPr algn="ctr"/>
            <a:r>
              <a:rPr sz="5800" b="1">
                <a:solidFill>
                  <a:srgbClr val="FFFFFF"/>
                </a:solidFill>
              </a:rPr>
              <a:t>3️⃣ ミクロ</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①コバンザメ戦略: 顧客の電設サブコンに値上げ</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業界全体が儲かる時に業界一強の取り分が増える</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顧客サブコンの業績改善で、かわでんの値上げも通りやすい</a:t>
            </a:r>
          </a:p>
          <a:p>
            <a:pPr algn="l">
              <a:lnSpc>
                <a:spcPct val="130000"/>
              </a:lnSpc>
            </a:pPr>
            <a:r>
              <a:rPr sz="1800">
                <a:solidFill>
                  <a:srgbClr val="202020"/>
                </a:solidFill>
              </a:rPr>
              <a:t>•  業界一強なので関電工・きんでんから優良案件を紹介してもらいやすい</a:t>
            </a:r>
          </a:p>
          <a:p>
            <a:pPr algn="l">
              <a:lnSpc>
                <a:spcPct val="130000"/>
              </a:lnSpc>
            </a:pPr>
            <a:r>
              <a:rPr sz="1800">
                <a:solidFill>
                  <a:srgbClr val="202020"/>
                </a:solidFill>
              </a:rPr>
              <a:t>•  (大阪IR、首都圏再開発、ラピダス工場など)</a:t>
            </a:r>
          </a:p>
          <a:p>
            <a:pPr algn="l">
              <a:lnSpc>
                <a:spcPct val="130000"/>
              </a:lnSpc>
            </a:pPr>
            <a:r>
              <a:rPr sz="1800">
                <a:solidFill>
                  <a:srgbClr val="202020"/>
                </a:solidFill>
              </a:rPr>
              <a:t>•  競合は規模が小さく、かわでんに頼むような工事を頼めない</a:t>
            </a:r>
          </a:p>
          <a:p>
            <a:pPr algn="l">
              <a:lnSpc>
                <a:spcPct val="130000"/>
              </a:lnSpc>
            </a:pPr>
            <a:r>
              <a:rPr sz="1800">
                <a:solidFill>
                  <a:srgbClr val="202020"/>
                </a:solidFill>
              </a:rPr>
              <a:t>•  関電工ときんでんが大株主 → 優良案件を独占する構造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②既存案件の保守点検でミックス改善</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バブル期に作った自社製品が一斉に耐用年数を迎える</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既導入顧客のメンテ・部品交換は作業効率良く粗利率が新規より10pt高い</a:t>
            </a:r>
          </a:p>
          <a:p>
            <a:pPr algn="l">
              <a:lnSpc>
                <a:spcPct val="130000"/>
              </a:lnSpc>
            </a:pPr>
            <a:r>
              <a:rPr sz="1800">
                <a:solidFill>
                  <a:srgbClr val="202020"/>
                </a:solidFill>
              </a:rPr>
              <a:t>•  今期から営業活動を強化、既存顧客の案件獲得を加速</a:t>
            </a:r>
          </a:p>
          <a:p>
            <a:pPr algn="l">
              <a:lnSpc>
                <a:spcPct val="130000"/>
              </a:lnSpc>
            </a:pPr>
            <a:r>
              <a:rPr sz="1800">
                <a:solidFill>
                  <a:srgbClr val="202020"/>
                </a:solidFill>
              </a:rPr>
              <a:t>•  バブル期建設物の自社製品が一斉に耐用年数 = 顧客リストが膨大</a:t>
            </a:r>
          </a:p>
          <a:p>
            <a:pPr algn="l">
              <a:lnSpc>
                <a:spcPct val="130000"/>
              </a:lnSpc>
            </a:pPr>
            <a:r>
              <a:rPr sz="1800">
                <a:solidFill>
                  <a:srgbClr val="202020"/>
                </a:solidFill>
              </a:rPr>
              <a:t>•  → ハードウェアばらまき+アフターサービスで稼ぐ配電盤業界のApple化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今期上期でリニューアルの売上高大幅増</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特段大きな案件ではない = 構造的な改善</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営業活動注力の結果、新規案件よりリニューアルの伸び率が高い</a:t>
            </a:r>
          </a:p>
          <a:p>
            <a:pPr algn="l">
              <a:lnSpc>
                <a:spcPct val="130000"/>
              </a:lnSpc>
            </a:pPr>
            <a:r>
              <a:rPr sz="1800">
                <a:solidFill>
                  <a:srgbClr val="202020"/>
                </a:solidFill>
              </a:rPr>
              <a:t>•  特段大きな案件が入ったわけではない(IR)</a:t>
            </a:r>
          </a:p>
          <a:p>
            <a:pPr algn="l">
              <a:lnSpc>
                <a:spcPct val="130000"/>
              </a:lnSpc>
            </a:pPr>
            <a:r>
              <a:rPr sz="1800">
                <a:solidFill>
                  <a:srgbClr val="202020"/>
                </a:solidFill>
              </a:rPr>
              <a:t>•  → 構造的な改善であり、一時的な大型案件ではない</a:t>
            </a:r>
          </a:p>
        </p:txBody>
      </p:sp>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IR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目次(バリュエーションへ)</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45775" cy="4892040"/>
          </a:xfrm>
          <a:prstGeom prst="rect">
            <a:avLst/>
          </a:prstGeom>
          <a:noFill/>
        </p:spPr>
        <p:txBody>
          <a:bodyPr wrap="square" lIns="45720" rIns="45720">
            <a:spAutoFit/>
          </a:bodyPr>
          <a:lstStyle/>
          <a:p>
            <a:pPr algn="l">
              <a:lnSpc>
                <a:spcPct val="130000"/>
              </a:lnSpc>
            </a:pPr>
            <a:r>
              <a:rPr sz="2200">
                <a:solidFill>
                  <a:srgbClr val="1F4E78"/>
                </a:solidFill>
              </a:rPr>
              <a:t>▶  ▶ 4️⃣ バリュエーション</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0"/>
            <a:ext cx="11277295" cy="1645920"/>
          </a:xfrm>
          <a:prstGeom prst="rect">
            <a:avLst/>
          </a:prstGeom>
          <a:noFill/>
        </p:spPr>
        <p:txBody>
          <a:bodyPr wrap="square" lIns="45720" rIns="45720" tIns="18288" bIns="18288">
            <a:spAutoFit/>
          </a:bodyPr>
          <a:lstStyle/>
          <a:p>
            <a:pPr algn="ctr"/>
            <a:r>
              <a:rPr sz="5800" b="1">
                <a:solidFill>
                  <a:srgbClr val="FFFFFF"/>
                </a:solidFill>
              </a:rPr>
              <a:t>4️⃣ バリュエーション</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売上の組み立て</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新規+10%/年、リニューアル+15%/年</a:t>
            </a:r>
          </a:p>
        </p:txBody>
      </p:sp>
      <p:graphicFrame>
        <p:nvGraphicFramePr>
          <p:cNvPr id="5" name="Table 4"/>
          <p:cNvGraphicFramePr>
            <a:graphicFrameLocks noGrp="1"/>
          </p:cNvGraphicFramePr>
          <p:nvPr/>
        </p:nvGraphicFramePr>
        <p:xfrm>
          <a:off x="457200" y="2286000"/>
          <a:ext cx="11277295" cy="2743200"/>
        </p:xfrm>
        <a:graphic>
          <a:graphicData uri="http://schemas.openxmlformats.org/drawingml/2006/table">
            <a:tbl>
              <a:tblPr firstRow="1" bandRow="1">
                <a:tableStyleId>{5C22544A-7EE6-4342-B048-85BDC9FD1C3A}</a:tableStyleId>
              </a:tblPr>
              <a:tblGrid>
                <a:gridCol w="2819323"/>
                <a:gridCol w="2819323"/>
                <a:gridCol w="2819323"/>
                <a:gridCol w="2819326"/>
              </a:tblGrid>
              <a:tr h="457200">
                <a:tc>
                  <a:txBody>
                    <a:bodyPr/>
                    <a:lstStyle/>
                    <a:p>
                      <a:pPr algn="ctr"/>
                      <a:r>
                        <a:rPr b="1" sz="1500">
                          <a:solidFill>
                            <a:srgbClr val="FFFFFF"/>
                          </a:solidFill>
                        </a:rPr>
                        <a:t>年度</a:t>
                      </a:r>
                    </a:p>
                  </a:txBody>
                  <a:tcPr marL="73152" marR="73152" marT="36576" marB="36576" anchor="ctr">
                    <a:solidFill>
                      <a:srgbClr val="1F4E78"/>
                    </a:solidFill>
                  </a:tcPr>
                </a:tc>
                <a:tc>
                  <a:txBody>
                    <a:bodyPr/>
                    <a:lstStyle/>
                    <a:p>
                      <a:pPr algn="ctr"/>
                      <a:r>
                        <a:rPr b="1" sz="1500">
                          <a:solidFill>
                            <a:srgbClr val="FFFFFF"/>
                          </a:solidFill>
                        </a:rPr>
                        <a:t>新規案件</a:t>
                      </a:r>
                    </a:p>
                  </a:txBody>
                  <a:tcPr marL="73152" marR="73152" marT="36576" marB="36576" anchor="ctr">
                    <a:solidFill>
                      <a:srgbClr val="1F4E78"/>
                    </a:solidFill>
                  </a:tcPr>
                </a:tc>
                <a:tc>
                  <a:txBody>
                    <a:bodyPr/>
                    <a:lstStyle/>
                    <a:p>
                      <a:pPr algn="ctr"/>
                      <a:r>
                        <a:rPr b="1" sz="1500">
                          <a:solidFill>
                            <a:srgbClr val="FFFFFF"/>
                          </a:solidFill>
                        </a:rPr>
                        <a:t>リニューアル</a:t>
                      </a:r>
                    </a:p>
                  </a:txBody>
                  <a:tcPr marL="73152" marR="73152" marT="36576" marB="36576" anchor="ctr">
                    <a:solidFill>
                      <a:srgbClr val="1F4E78"/>
                    </a:solidFill>
                  </a:tcPr>
                </a:tc>
                <a:tc>
                  <a:txBody>
                    <a:bodyPr/>
                    <a:lstStyle/>
                    <a:p>
                      <a:pPr algn="ctr"/>
                      <a:r>
                        <a:rPr b="1" sz="1500">
                          <a:solidFill>
                            <a:srgbClr val="FFFFFF"/>
                          </a:solidFill>
                        </a:rPr>
                        <a:t>合計</a:t>
                      </a:r>
                    </a:p>
                  </a:txBody>
                  <a:tcPr marL="73152" marR="73152" marT="36576" marB="36576" anchor="ctr">
                    <a:solidFill>
                      <a:srgbClr val="1F4E78"/>
                    </a:solidFill>
                  </a:tcPr>
                </a:tc>
              </a:tr>
              <a:tr h="457200">
                <a:tc>
                  <a:txBody>
                    <a:bodyPr/>
                    <a:lstStyle/>
                    <a:p>
                      <a:pPr algn="l"/>
                      <a:r>
                        <a:rPr sz="1400">
                          <a:solidFill>
                            <a:srgbClr val="202020"/>
                          </a:solidFill>
                        </a:rPr>
                        <a:t>FY24 実</a:t>
                      </a:r>
                    </a:p>
                  </a:txBody>
                  <a:tcPr marL="73152" marR="73152" marT="36576" marB="36576" anchor="ctr">
                    <a:solidFill>
                      <a:srgbClr val="FFFFFF"/>
                    </a:solidFill>
                  </a:tcPr>
                </a:tc>
                <a:tc>
                  <a:txBody>
                    <a:bodyPr/>
                    <a:lstStyle/>
                    <a:p>
                      <a:pPr algn="l"/>
                      <a:r>
                        <a:rPr sz="1400">
                          <a:solidFill>
                            <a:srgbClr val="202020"/>
                          </a:solidFill>
                        </a:rPr>
                        <a:t>15,090</a:t>
                      </a:r>
                    </a:p>
                  </a:txBody>
                  <a:tcPr marL="73152" marR="73152" marT="36576" marB="36576" anchor="ctr">
                    <a:solidFill>
                      <a:srgbClr val="FFFFFF"/>
                    </a:solidFill>
                  </a:tcPr>
                </a:tc>
                <a:tc>
                  <a:txBody>
                    <a:bodyPr/>
                    <a:lstStyle/>
                    <a:p>
                      <a:pPr algn="l"/>
                      <a:r>
                        <a:rPr sz="1400">
                          <a:solidFill>
                            <a:srgbClr val="202020"/>
                          </a:solidFill>
                        </a:rPr>
                        <a:t>6,244</a:t>
                      </a:r>
                    </a:p>
                  </a:txBody>
                  <a:tcPr marL="73152" marR="73152" marT="36576" marB="36576" anchor="ctr">
                    <a:solidFill>
                      <a:srgbClr val="FFFFFF"/>
                    </a:solidFill>
                  </a:tcPr>
                </a:tc>
                <a:tc>
                  <a:txBody>
                    <a:bodyPr/>
                    <a:lstStyle/>
                    <a:p>
                      <a:pPr algn="l"/>
                      <a:r>
                        <a:rPr sz="1400">
                          <a:solidFill>
                            <a:srgbClr val="202020"/>
                          </a:solidFill>
                        </a:rPr>
                        <a:t>21,334</a:t>
                      </a:r>
                    </a:p>
                  </a:txBody>
                  <a:tcPr marL="73152" marR="73152" marT="36576" marB="36576" anchor="ctr">
                    <a:solidFill>
                      <a:srgbClr val="FFFFFF"/>
                    </a:solidFill>
                  </a:tcPr>
                </a:tc>
              </a:tr>
              <a:tr h="457200">
                <a:tc>
                  <a:txBody>
                    <a:bodyPr/>
                    <a:lstStyle/>
                    <a:p>
                      <a:pPr algn="l"/>
                      <a:r>
                        <a:rPr sz="1400">
                          <a:solidFill>
                            <a:srgbClr val="202020"/>
                          </a:solidFill>
                        </a:rPr>
                        <a:t>FY25 実</a:t>
                      </a:r>
                    </a:p>
                  </a:txBody>
                  <a:tcPr marL="73152" marR="73152" marT="36576" marB="36576" anchor="ctr">
                    <a:solidFill>
                      <a:srgbClr val="F5F5F5"/>
                    </a:solidFill>
                  </a:tcPr>
                </a:tc>
                <a:tc>
                  <a:txBody>
                    <a:bodyPr/>
                    <a:lstStyle/>
                    <a:p>
                      <a:pPr algn="l"/>
                      <a:r>
                        <a:rPr sz="1400">
                          <a:solidFill>
                            <a:srgbClr val="202020"/>
                          </a:solidFill>
                        </a:rPr>
                        <a:t>17,827</a:t>
                      </a:r>
                    </a:p>
                  </a:txBody>
                  <a:tcPr marL="73152" marR="73152" marT="36576" marB="36576" anchor="ctr">
                    <a:solidFill>
                      <a:srgbClr val="F5F5F5"/>
                    </a:solidFill>
                  </a:tcPr>
                </a:tc>
                <a:tc>
                  <a:txBody>
                    <a:bodyPr/>
                    <a:lstStyle/>
                    <a:p>
                      <a:pPr algn="l"/>
                      <a:r>
                        <a:rPr sz="1400">
                          <a:solidFill>
                            <a:srgbClr val="202020"/>
                          </a:solidFill>
                        </a:rPr>
                        <a:t>6,391</a:t>
                      </a:r>
                    </a:p>
                  </a:txBody>
                  <a:tcPr marL="73152" marR="73152" marT="36576" marB="36576" anchor="ctr">
                    <a:solidFill>
                      <a:srgbClr val="F5F5F5"/>
                    </a:solidFill>
                  </a:tcPr>
                </a:tc>
                <a:tc>
                  <a:txBody>
                    <a:bodyPr/>
                    <a:lstStyle/>
                    <a:p>
                      <a:pPr algn="l"/>
                      <a:r>
                        <a:rPr sz="1400">
                          <a:solidFill>
                            <a:srgbClr val="202020"/>
                          </a:solidFill>
                        </a:rPr>
                        <a:t>24,218</a:t>
                      </a:r>
                    </a:p>
                  </a:txBody>
                  <a:tcPr marL="73152" marR="73152" marT="36576" marB="36576" anchor="ctr">
                    <a:solidFill>
                      <a:srgbClr val="F5F5F5"/>
                    </a:solidFill>
                  </a:tcPr>
                </a:tc>
              </a:tr>
              <a:tr h="457200">
                <a:tc>
                  <a:txBody>
                    <a:bodyPr/>
                    <a:lstStyle/>
                    <a:p>
                      <a:pPr algn="l"/>
                      <a:r>
                        <a:rPr sz="1400">
                          <a:solidFill>
                            <a:srgbClr val="202020"/>
                          </a:solidFill>
                        </a:rPr>
                        <a:t>FY26 予</a:t>
                      </a:r>
                    </a:p>
                  </a:txBody>
                  <a:tcPr marL="73152" marR="73152" marT="36576" marB="36576" anchor="ctr">
                    <a:solidFill>
                      <a:srgbClr val="FFFFFF"/>
                    </a:solidFill>
                  </a:tcPr>
                </a:tc>
                <a:tc>
                  <a:txBody>
                    <a:bodyPr/>
                    <a:lstStyle/>
                    <a:p>
                      <a:pPr algn="l"/>
                      <a:r>
                        <a:rPr sz="1400">
                          <a:solidFill>
                            <a:srgbClr val="202020"/>
                          </a:solidFill>
                        </a:rPr>
                        <a:t>19,610</a:t>
                      </a:r>
                    </a:p>
                  </a:txBody>
                  <a:tcPr marL="73152" marR="73152" marT="36576" marB="36576" anchor="ctr">
                    <a:solidFill>
                      <a:srgbClr val="FFFFFF"/>
                    </a:solidFill>
                  </a:tcPr>
                </a:tc>
                <a:tc>
                  <a:txBody>
                    <a:bodyPr/>
                    <a:lstStyle/>
                    <a:p>
                      <a:pPr algn="l"/>
                      <a:r>
                        <a:rPr sz="1400">
                          <a:solidFill>
                            <a:srgbClr val="202020"/>
                          </a:solidFill>
                        </a:rPr>
                        <a:t>7,669</a:t>
                      </a:r>
                    </a:p>
                  </a:txBody>
                  <a:tcPr marL="73152" marR="73152" marT="36576" marB="36576" anchor="ctr">
                    <a:solidFill>
                      <a:srgbClr val="FFFFFF"/>
                    </a:solidFill>
                  </a:tcPr>
                </a:tc>
                <a:tc>
                  <a:txBody>
                    <a:bodyPr/>
                    <a:lstStyle/>
                    <a:p>
                      <a:pPr algn="l"/>
                      <a:r>
                        <a:rPr sz="1400">
                          <a:solidFill>
                            <a:srgbClr val="202020"/>
                          </a:solidFill>
                        </a:rPr>
                        <a:t>27,279</a:t>
                      </a:r>
                    </a:p>
                  </a:txBody>
                  <a:tcPr marL="73152" marR="73152" marT="36576" marB="36576" anchor="ctr">
                    <a:solidFill>
                      <a:srgbClr val="FFFFFF"/>
                    </a:solidFill>
                  </a:tcPr>
                </a:tc>
              </a:tr>
              <a:tr h="457200">
                <a:tc>
                  <a:txBody>
                    <a:bodyPr/>
                    <a:lstStyle/>
                    <a:p>
                      <a:pPr algn="l"/>
                      <a:r>
                        <a:rPr sz="1400">
                          <a:solidFill>
                            <a:srgbClr val="202020"/>
                          </a:solidFill>
                        </a:rPr>
                        <a:t>FY27 予</a:t>
                      </a:r>
                    </a:p>
                  </a:txBody>
                  <a:tcPr marL="73152" marR="73152" marT="36576" marB="36576" anchor="ctr">
                    <a:solidFill>
                      <a:srgbClr val="F5F5F5"/>
                    </a:solidFill>
                  </a:tcPr>
                </a:tc>
                <a:tc>
                  <a:txBody>
                    <a:bodyPr/>
                    <a:lstStyle/>
                    <a:p>
                      <a:pPr algn="l"/>
                      <a:r>
                        <a:rPr sz="1400">
                          <a:solidFill>
                            <a:srgbClr val="202020"/>
                          </a:solidFill>
                        </a:rPr>
                        <a:t>21,571</a:t>
                      </a:r>
                    </a:p>
                  </a:txBody>
                  <a:tcPr marL="73152" marR="73152" marT="36576" marB="36576" anchor="ctr">
                    <a:solidFill>
                      <a:srgbClr val="F5F5F5"/>
                    </a:solidFill>
                  </a:tcPr>
                </a:tc>
                <a:tc>
                  <a:txBody>
                    <a:bodyPr/>
                    <a:lstStyle/>
                    <a:p>
                      <a:pPr algn="l"/>
                      <a:r>
                        <a:rPr sz="1400">
                          <a:solidFill>
                            <a:srgbClr val="202020"/>
                          </a:solidFill>
                        </a:rPr>
                        <a:t>8,820</a:t>
                      </a:r>
                    </a:p>
                  </a:txBody>
                  <a:tcPr marL="73152" marR="73152" marT="36576" marB="36576" anchor="ctr">
                    <a:solidFill>
                      <a:srgbClr val="F5F5F5"/>
                    </a:solidFill>
                  </a:tcPr>
                </a:tc>
                <a:tc>
                  <a:txBody>
                    <a:bodyPr/>
                    <a:lstStyle/>
                    <a:p>
                      <a:pPr algn="l"/>
                      <a:r>
                        <a:rPr sz="1400">
                          <a:solidFill>
                            <a:srgbClr val="202020"/>
                          </a:solidFill>
                        </a:rPr>
                        <a:t>30,390</a:t>
                      </a:r>
                    </a:p>
                  </a:txBody>
                  <a:tcPr marL="73152" marR="73152" marT="36576" marB="36576" anchor="ctr">
                    <a:solidFill>
                      <a:srgbClr val="F5F5F5"/>
                    </a:solidFill>
                  </a:tcPr>
                </a:tc>
              </a:tr>
              <a:tr h="457200">
                <a:tc>
                  <a:txBody>
                    <a:bodyPr/>
                    <a:lstStyle/>
                    <a:p>
                      <a:pPr algn="l"/>
                      <a:r>
                        <a:rPr sz="1400">
                          <a:solidFill>
                            <a:srgbClr val="202020"/>
                          </a:solidFill>
                        </a:rPr>
                        <a:t>FY28 予</a:t>
                      </a:r>
                    </a:p>
                  </a:txBody>
                  <a:tcPr marL="73152" marR="73152" marT="36576" marB="36576" anchor="ctr">
                    <a:solidFill>
                      <a:srgbClr val="FFFFFF"/>
                    </a:solidFill>
                  </a:tcPr>
                </a:tc>
                <a:tc>
                  <a:txBody>
                    <a:bodyPr/>
                    <a:lstStyle/>
                    <a:p>
                      <a:pPr algn="l"/>
                      <a:r>
                        <a:rPr sz="1400">
                          <a:solidFill>
                            <a:srgbClr val="202020"/>
                          </a:solidFill>
                        </a:rPr>
                        <a:t>23,728</a:t>
                      </a:r>
                    </a:p>
                  </a:txBody>
                  <a:tcPr marL="73152" marR="73152" marT="36576" marB="36576" anchor="ctr">
                    <a:solidFill>
                      <a:srgbClr val="FFFFFF"/>
                    </a:solidFill>
                  </a:tcPr>
                </a:tc>
                <a:tc>
                  <a:txBody>
                    <a:bodyPr/>
                    <a:lstStyle/>
                    <a:p>
                      <a:pPr algn="l"/>
                      <a:r>
                        <a:rPr sz="1400">
                          <a:solidFill>
                            <a:srgbClr val="202020"/>
                          </a:solidFill>
                        </a:rPr>
                        <a:t>10,143</a:t>
                      </a:r>
                    </a:p>
                  </a:txBody>
                  <a:tcPr marL="73152" marR="73152" marT="36576" marB="36576" anchor="ctr">
                    <a:solidFill>
                      <a:srgbClr val="FFFFFF"/>
                    </a:solidFill>
                  </a:tcPr>
                </a:tc>
                <a:tc>
                  <a:txBody>
                    <a:bodyPr/>
                    <a:lstStyle/>
                    <a:p>
                      <a:pPr algn="l"/>
                      <a:r>
                        <a:rPr sz="1400">
                          <a:solidFill>
                            <a:srgbClr val="202020"/>
                          </a:solidFill>
                        </a:rPr>
                        <a:t>33,870</a:t>
                      </a:r>
                    </a:p>
                  </a:txBody>
                  <a:tcPr marL="73152" marR="73152" marT="36576" marB="36576" anchor="ctr">
                    <a:solidFill>
                      <a:srgbClr val="FFFFFF"/>
                    </a:solidFill>
                  </a:tcPr>
                </a:tc>
              </a:tr>
            </a:tbl>
          </a:graphicData>
        </a:graphic>
      </p:graphicFrame>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単位: 百万円</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粗利率の改善</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新規+リニューアルとも+6/+3/+3pt の改善 = ミックス効果</a:t>
            </a:r>
          </a:p>
        </p:txBody>
      </p:sp>
      <p:graphicFrame>
        <p:nvGraphicFramePr>
          <p:cNvPr id="5" name="Table 4"/>
          <p:cNvGraphicFramePr>
            <a:graphicFrameLocks noGrp="1"/>
          </p:cNvGraphicFramePr>
          <p:nvPr/>
        </p:nvGraphicFramePr>
        <p:xfrm>
          <a:off x="457200" y="2286000"/>
          <a:ext cx="11277295" cy="2286000"/>
        </p:xfrm>
        <a:graphic>
          <a:graphicData uri="http://schemas.openxmlformats.org/drawingml/2006/table">
            <a:tbl>
              <a:tblPr firstRow="1" bandRow="1">
                <a:tableStyleId>{5C22544A-7EE6-4342-B048-85BDC9FD1C3A}</a:tableStyleId>
              </a:tblPr>
              <a:tblGrid>
                <a:gridCol w="2819323"/>
                <a:gridCol w="2819323"/>
                <a:gridCol w="2819323"/>
                <a:gridCol w="2819326"/>
              </a:tblGrid>
              <a:tr h="457200">
                <a:tc>
                  <a:txBody>
                    <a:bodyPr/>
                    <a:lstStyle/>
                    <a:p>
                      <a:pPr algn="ctr"/>
                      <a:r>
                        <a:rPr b="1" sz="1500">
                          <a:solidFill>
                            <a:srgbClr val="FFFFFF"/>
                          </a:solidFill>
                        </a:rPr>
                        <a:t>年度</a:t>
                      </a:r>
                    </a:p>
                  </a:txBody>
                  <a:tcPr marL="73152" marR="73152" marT="36576" marB="36576" anchor="ctr">
                    <a:solidFill>
                      <a:srgbClr val="1F4E78"/>
                    </a:solidFill>
                  </a:tcPr>
                </a:tc>
                <a:tc>
                  <a:txBody>
                    <a:bodyPr/>
                    <a:lstStyle/>
                    <a:p>
                      <a:pPr algn="ctr"/>
                      <a:r>
                        <a:rPr b="1" sz="1500">
                          <a:solidFill>
                            <a:srgbClr val="FFFFFF"/>
                          </a:solidFill>
                        </a:rPr>
                        <a:t>新規粗利率</a:t>
                      </a:r>
                    </a:p>
                  </a:txBody>
                  <a:tcPr marL="73152" marR="73152" marT="36576" marB="36576" anchor="ctr">
                    <a:solidFill>
                      <a:srgbClr val="1F4E78"/>
                    </a:solidFill>
                  </a:tcPr>
                </a:tc>
                <a:tc>
                  <a:txBody>
                    <a:bodyPr/>
                    <a:lstStyle/>
                    <a:p>
                      <a:pPr algn="ctr"/>
                      <a:r>
                        <a:rPr b="1" sz="1500">
                          <a:solidFill>
                            <a:srgbClr val="FFFFFF"/>
                          </a:solidFill>
                        </a:rPr>
                        <a:t>リニューアル粗利率</a:t>
                      </a:r>
                    </a:p>
                  </a:txBody>
                  <a:tcPr marL="73152" marR="73152" marT="36576" marB="36576" anchor="ctr">
                    <a:solidFill>
                      <a:srgbClr val="1F4E78"/>
                    </a:solidFill>
                  </a:tcPr>
                </a:tc>
                <a:tc>
                  <a:txBody>
                    <a:bodyPr/>
                    <a:lstStyle/>
                    <a:p>
                      <a:pPr algn="ctr"/>
                      <a:r>
                        <a:rPr b="1" sz="1500">
                          <a:solidFill>
                            <a:srgbClr val="FFFFFF"/>
                          </a:solidFill>
                        </a:rPr>
                        <a:t>全社粗利率</a:t>
                      </a:r>
                    </a:p>
                  </a:txBody>
                  <a:tcPr marL="73152" marR="73152" marT="36576" marB="36576" anchor="ctr">
                    <a:solidFill>
                      <a:srgbClr val="1F4E78"/>
                    </a:solidFill>
                  </a:tcPr>
                </a:tc>
              </a:tr>
              <a:tr h="457200">
                <a:tc>
                  <a:txBody>
                    <a:bodyPr/>
                    <a:lstStyle/>
                    <a:p>
                      <a:pPr algn="l"/>
                      <a:r>
                        <a:rPr sz="1400">
                          <a:solidFill>
                            <a:srgbClr val="202020"/>
                          </a:solidFill>
                        </a:rPr>
                        <a:t>FY25 実</a:t>
                      </a:r>
                    </a:p>
                  </a:txBody>
                  <a:tcPr marL="73152" marR="73152" marT="36576" marB="36576" anchor="ctr">
                    <a:solidFill>
                      <a:srgbClr val="FFFFFF"/>
                    </a:solidFill>
                  </a:tcPr>
                </a:tc>
                <a:tc>
                  <a:txBody>
                    <a:bodyPr/>
                    <a:lstStyle/>
                    <a:p>
                      <a:pPr algn="l"/>
                      <a:r>
                        <a:rPr sz="1400">
                          <a:solidFill>
                            <a:srgbClr val="202020"/>
                          </a:solidFill>
                        </a:rPr>
                        <a:t>30%</a:t>
                      </a:r>
                    </a:p>
                  </a:txBody>
                  <a:tcPr marL="73152" marR="73152" marT="36576" marB="36576" anchor="ctr">
                    <a:solidFill>
                      <a:srgbClr val="FFFFFF"/>
                    </a:solidFill>
                  </a:tcPr>
                </a:tc>
                <a:tc>
                  <a:txBody>
                    <a:bodyPr/>
                    <a:lstStyle/>
                    <a:p>
                      <a:pPr algn="l"/>
                      <a:r>
                        <a:rPr sz="1400">
                          <a:solidFill>
                            <a:srgbClr val="202020"/>
                          </a:solidFill>
                        </a:rPr>
                        <a:t>40%</a:t>
                      </a:r>
                    </a:p>
                  </a:txBody>
                  <a:tcPr marL="73152" marR="73152" marT="36576" marB="36576" anchor="ctr">
                    <a:solidFill>
                      <a:srgbClr val="FFFFFF"/>
                    </a:solidFill>
                  </a:tcPr>
                </a:tc>
                <a:tc>
                  <a:txBody>
                    <a:bodyPr/>
                    <a:lstStyle/>
                    <a:p>
                      <a:pPr algn="l"/>
                      <a:r>
                        <a:rPr sz="1400">
                          <a:solidFill>
                            <a:srgbClr val="202020"/>
                          </a:solidFill>
                        </a:rPr>
                        <a:t>33.1%</a:t>
                      </a:r>
                    </a:p>
                  </a:txBody>
                  <a:tcPr marL="73152" marR="73152" marT="36576" marB="36576" anchor="ctr">
                    <a:solidFill>
                      <a:srgbClr val="FFFFFF"/>
                    </a:solidFill>
                  </a:tcPr>
                </a:tc>
              </a:tr>
              <a:tr h="457200">
                <a:tc>
                  <a:txBody>
                    <a:bodyPr/>
                    <a:lstStyle/>
                    <a:p>
                      <a:pPr algn="l"/>
                      <a:r>
                        <a:rPr sz="1400">
                          <a:solidFill>
                            <a:srgbClr val="202020"/>
                          </a:solidFill>
                        </a:rPr>
                        <a:t>FY26 予</a:t>
                      </a:r>
                    </a:p>
                  </a:txBody>
                  <a:tcPr marL="73152" marR="73152" marT="36576" marB="36576" anchor="ctr">
                    <a:solidFill>
                      <a:srgbClr val="F5F5F5"/>
                    </a:solidFill>
                  </a:tcPr>
                </a:tc>
                <a:tc>
                  <a:txBody>
                    <a:bodyPr/>
                    <a:lstStyle/>
                    <a:p>
                      <a:pPr algn="l"/>
                      <a:r>
                        <a:rPr sz="1400">
                          <a:solidFill>
                            <a:srgbClr val="202020"/>
                          </a:solidFill>
                        </a:rPr>
                        <a:t>36%</a:t>
                      </a:r>
                    </a:p>
                  </a:txBody>
                  <a:tcPr marL="73152" marR="73152" marT="36576" marB="36576" anchor="ctr">
                    <a:solidFill>
                      <a:srgbClr val="F5F5F5"/>
                    </a:solidFill>
                  </a:tcPr>
                </a:tc>
                <a:tc>
                  <a:txBody>
                    <a:bodyPr/>
                    <a:lstStyle/>
                    <a:p>
                      <a:pPr algn="l"/>
                      <a:r>
                        <a:rPr sz="1400">
                          <a:solidFill>
                            <a:srgbClr val="202020"/>
                          </a:solidFill>
                        </a:rPr>
                        <a:t>46%</a:t>
                      </a:r>
                    </a:p>
                  </a:txBody>
                  <a:tcPr marL="73152" marR="73152" marT="36576" marB="36576" anchor="ctr">
                    <a:solidFill>
                      <a:srgbClr val="F5F5F5"/>
                    </a:solidFill>
                  </a:tcPr>
                </a:tc>
                <a:tc>
                  <a:txBody>
                    <a:bodyPr/>
                    <a:lstStyle/>
                    <a:p>
                      <a:pPr algn="l"/>
                      <a:r>
                        <a:rPr sz="1400">
                          <a:solidFill>
                            <a:srgbClr val="202020"/>
                          </a:solidFill>
                        </a:rPr>
                        <a:t>38.8%</a:t>
                      </a:r>
                    </a:p>
                  </a:txBody>
                  <a:tcPr marL="73152" marR="73152" marT="36576" marB="36576" anchor="ctr">
                    <a:solidFill>
                      <a:srgbClr val="F5F5F5"/>
                    </a:solidFill>
                  </a:tcPr>
                </a:tc>
              </a:tr>
              <a:tr h="457200">
                <a:tc>
                  <a:txBody>
                    <a:bodyPr/>
                    <a:lstStyle/>
                    <a:p>
                      <a:pPr algn="l"/>
                      <a:r>
                        <a:rPr sz="1400">
                          <a:solidFill>
                            <a:srgbClr val="202020"/>
                          </a:solidFill>
                        </a:rPr>
                        <a:t>FY27 予</a:t>
                      </a:r>
                    </a:p>
                  </a:txBody>
                  <a:tcPr marL="73152" marR="73152" marT="36576" marB="36576" anchor="ctr">
                    <a:solidFill>
                      <a:srgbClr val="FFFFFF"/>
                    </a:solidFill>
                  </a:tcPr>
                </a:tc>
                <a:tc>
                  <a:txBody>
                    <a:bodyPr/>
                    <a:lstStyle/>
                    <a:p>
                      <a:pPr algn="l"/>
                      <a:r>
                        <a:rPr sz="1400">
                          <a:solidFill>
                            <a:srgbClr val="202020"/>
                          </a:solidFill>
                        </a:rPr>
                        <a:t>39%</a:t>
                      </a:r>
                    </a:p>
                  </a:txBody>
                  <a:tcPr marL="73152" marR="73152" marT="36576" marB="36576" anchor="ctr">
                    <a:solidFill>
                      <a:srgbClr val="FFFFFF"/>
                    </a:solidFill>
                  </a:tcPr>
                </a:tc>
                <a:tc>
                  <a:txBody>
                    <a:bodyPr/>
                    <a:lstStyle/>
                    <a:p>
                      <a:pPr algn="l"/>
                      <a:r>
                        <a:rPr sz="1400">
                          <a:solidFill>
                            <a:srgbClr val="202020"/>
                          </a:solidFill>
                        </a:rPr>
                        <a:t>49%</a:t>
                      </a:r>
                    </a:p>
                  </a:txBody>
                  <a:tcPr marL="73152" marR="73152" marT="36576" marB="36576" anchor="ctr">
                    <a:solidFill>
                      <a:srgbClr val="FFFFFF"/>
                    </a:solidFill>
                  </a:tcPr>
                </a:tc>
                <a:tc>
                  <a:txBody>
                    <a:bodyPr/>
                    <a:lstStyle/>
                    <a:p>
                      <a:pPr algn="l"/>
                      <a:r>
                        <a:rPr sz="1400">
                          <a:solidFill>
                            <a:srgbClr val="202020"/>
                          </a:solidFill>
                        </a:rPr>
                        <a:t>41.9%</a:t>
                      </a:r>
                    </a:p>
                  </a:txBody>
                  <a:tcPr marL="73152" marR="73152" marT="36576" marB="36576" anchor="ctr">
                    <a:solidFill>
                      <a:srgbClr val="FFFFFF"/>
                    </a:solidFill>
                  </a:tcPr>
                </a:tc>
              </a:tr>
              <a:tr h="457200">
                <a:tc>
                  <a:txBody>
                    <a:bodyPr/>
                    <a:lstStyle/>
                    <a:p>
                      <a:pPr algn="l"/>
                      <a:r>
                        <a:rPr sz="1400">
                          <a:solidFill>
                            <a:srgbClr val="202020"/>
                          </a:solidFill>
                        </a:rPr>
                        <a:t>FY28 予</a:t>
                      </a:r>
                    </a:p>
                  </a:txBody>
                  <a:tcPr marL="73152" marR="73152" marT="36576" marB="36576" anchor="ctr">
                    <a:solidFill>
                      <a:srgbClr val="F5F5F5"/>
                    </a:solidFill>
                  </a:tcPr>
                </a:tc>
                <a:tc>
                  <a:txBody>
                    <a:bodyPr/>
                    <a:lstStyle/>
                    <a:p>
                      <a:pPr algn="l"/>
                      <a:r>
                        <a:rPr sz="1400">
                          <a:solidFill>
                            <a:srgbClr val="202020"/>
                          </a:solidFill>
                        </a:rPr>
                        <a:t>42%</a:t>
                      </a:r>
                    </a:p>
                  </a:txBody>
                  <a:tcPr marL="73152" marR="73152" marT="36576" marB="36576" anchor="ctr">
                    <a:solidFill>
                      <a:srgbClr val="F5F5F5"/>
                    </a:solidFill>
                  </a:tcPr>
                </a:tc>
                <a:tc>
                  <a:txBody>
                    <a:bodyPr/>
                    <a:lstStyle/>
                    <a:p>
                      <a:pPr algn="l"/>
                      <a:r>
                        <a:rPr sz="1400">
                          <a:solidFill>
                            <a:srgbClr val="202020"/>
                          </a:solidFill>
                        </a:rPr>
                        <a:t>52%</a:t>
                      </a:r>
                    </a:p>
                  </a:txBody>
                  <a:tcPr marL="73152" marR="73152" marT="36576" marB="36576" anchor="ctr">
                    <a:solidFill>
                      <a:srgbClr val="F5F5F5"/>
                    </a:solidFill>
                  </a:tcPr>
                </a:tc>
                <a:tc>
                  <a:txBody>
                    <a:bodyPr/>
                    <a:lstStyle/>
                    <a:p>
                      <a:pPr algn="l"/>
                      <a:r>
                        <a:rPr sz="1400">
                          <a:solidFill>
                            <a:srgbClr val="202020"/>
                          </a:solidFill>
                        </a:rPr>
                        <a:t>45.0%</a:t>
                      </a:r>
                    </a:p>
                  </a:txBody>
                  <a:tcPr marL="73152" marR="73152" marT="36576" marB="36576" anchor="ctr">
                    <a:solidFill>
                      <a:srgbClr val="F5F5F5"/>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利益の爆発</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営業利益 1,135 → 7,111 百万円(×6.3倍)</a:t>
            </a:r>
          </a:p>
        </p:txBody>
      </p:sp>
      <p:graphicFrame>
        <p:nvGraphicFramePr>
          <p:cNvPr id="5" name="Table 4"/>
          <p:cNvGraphicFramePr>
            <a:graphicFrameLocks noGrp="1"/>
          </p:cNvGraphicFramePr>
          <p:nvPr/>
        </p:nvGraphicFramePr>
        <p:xfrm>
          <a:off x="457200" y="2286000"/>
          <a:ext cx="11277295" cy="18288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457200">
                <a:tc>
                  <a:txBody>
                    <a:bodyPr/>
                    <a:lstStyle/>
                    <a:p>
                      <a:pPr algn="ctr"/>
                      <a:r>
                        <a:rPr b="1" sz="1500">
                          <a:solidFill>
                            <a:srgbClr val="FFFFFF"/>
                          </a:solidFill>
                        </a:rPr>
                        <a:t>指標</a:t>
                      </a:r>
                    </a:p>
                  </a:txBody>
                  <a:tcPr marL="73152" marR="73152" marT="36576" marB="36576" anchor="ctr">
                    <a:solidFill>
                      <a:srgbClr val="1F4E78"/>
                    </a:solidFill>
                  </a:tcPr>
                </a:tc>
                <a:tc>
                  <a:txBody>
                    <a:bodyPr/>
                    <a:lstStyle/>
                    <a:p>
                      <a:pPr algn="ctr"/>
                      <a:r>
                        <a:rPr b="1" sz="1500">
                          <a:solidFill>
                            <a:srgbClr val="FFFFFF"/>
                          </a:solidFill>
                        </a:rPr>
                        <a:t>FY24 実</a:t>
                      </a:r>
                    </a:p>
                  </a:txBody>
                  <a:tcPr marL="73152" marR="73152" marT="36576" marB="36576" anchor="ctr">
                    <a:solidFill>
                      <a:srgbClr val="1F4E78"/>
                    </a:solidFill>
                  </a:tcPr>
                </a:tc>
                <a:tc>
                  <a:txBody>
                    <a:bodyPr/>
                    <a:lstStyle/>
                    <a:p>
                      <a:pPr algn="ctr"/>
                      <a:r>
                        <a:rPr b="1" sz="1500">
                          <a:solidFill>
                            <a:srgbClr val="FFFFFF"/>
                          </a:solidFill>
                        </a:rPr>
                        <a:t>FY25 実</a:t>
                      </a:r>
                    </a:p>
                  </a:txBody>
                  <a:tcPr marL="73152" marR="73152" marT="36576" marB="36576" anchor="ctr">
                    <a:solidFill>
                      <a:srgbClr val="1F4E78"/>
                    </a:solidFill>
                  </a:tcPr>
                </a:tc>
                <a:tc>
                  <a:txBody>
                    <a:bodyPr/>
                    <a:lstStyle/>
                    <a:p>
                      <a:pPr algn="ctr"/>
                      <a:r>
                        <a:rPr b="1" sz="1500">
                          <a:solidFill>
                            <a:srgbClr val="FFFFFF"/>
                          </a:solidFill>
                        </a:rPr>
                        <a:t>FY26 予</a:t>
                      </a:r>
                    </a:p>
                  </a:txBody>
                  <a:tcPr marL="73152" marR="73152" marT="36576" marB="36576" anchor="ctr">
                    <a:solidFill>
                      <a:srgbClr val="1F4E78"/>
                    </a:solidFill>
                  </a:tcPr>
                </a:tc>
                <a:tc>
                  <a:txBody>
                    <a:bodyPr/>
                    <a:lstStyle/>
                    <a:p>
                      <a:pPr algn="ctr"/>
                      <a:r>
                        <a:rPr b="1" sz="1500">
                          <a:solidFill>
                            <a:srgbClr val="FFFFFF"/>
                          </a:solidFill>
                        </a:rPr>
                        <a:t>FY27 予</a:t>
                      </a:r>
                    </a:p>
                  </a:txBody>
                  <a:tcPr marL="73152" marR="73152" marT="36576" marB="36576" anchor="ctr">
                    <a:solidFill>
                      <a:srgbClr val="1F4E78"/>
                    </a:solidFill>
                  </a:tcPr>
                </a:tc>
                <a:tc>
                  <a:txBody>
                    <a:bodyPr/>
                    <a:lstStyle/>
                    <a:p>
                      <a:pPr algn="ctr"/>
                      <a:r>
                        <a:rPr b="1" sz="1500">
                          <a:solidFill>
                            <a:srgbClr val="FFFFFF"/>
                          </a:solidFill>
                        </a:rPr>
                        <a:t>FY28 予</a:t>
                      </a:r>
                    </a:p>
                  </a:txBody>
                  <a:tcPr marL="73152" marR="73152" marT="36576" marB="36576" anchor="ctr">
                    <a:solidFill>
                      <a:srgbClr val="1F4E78"/>
                    </a:solidFill>
                  </a:tcPr>
                </a:tc>
              </a:tr>
              <a:tr h="457200">
                <a:tc>
                  <a:txBody>
                    <a:bodyPr/>
                    <a:lstStyle/>
                    <a:p>
                      <a:pPr algn="l"/>
                      <a:r>
                        <a:rPr sz="1400">
                          <a:solidFill>
                            <a:srgbClr val="202020"/>
                          </a:solidFill>
                        </a:rPr>
                        <a:t>売上高</a:t>
                      </a:r>
                    </a:p>
                  </a:txBody>
                  <a:tcPr marL="73152" marR="73152" marT="36576" marB="36576" anchor="ctr">
                    <a:solidFill>
                      <a:srgbClr val="FFFFFF"/>
                    </a:solidFill>
                  </a:tcPr>
                </a:tc>
                <a:tc>
                  <a:txBody>
                    <a:bodyPr/>
                    <a:lstStyle/>
                    <a:p>
                      <a:pPr algn="l"/>
                      <a:r>
                        <a:rPr sz="1400">
                          <a:solidFill>
                            <a:srgbClr val="202020"/>
                          </a:solidFill>
                        </a:rPr>
                        <a:t>21,334</a:t>
                      </a:r>
                    </a:p>
                  </a:txBody>
                  <a:tcPr marL="73152" marR="73152" marT="36576" marB="36576" anchor="ctr">
                    <a:solidFill>
                      <a:srgbClr val="FFFFFF"/>
                    </a:solidFill>
                  </a:tcPr>
                </a:tc>
                <a:tc>
                  <a:txBody>
                    <a:bodyPr/>
                    <a:lstStyle/>
                    <a:p>
                      <a:pPr algn="l"/>
                      <a:r>
                        <a:rPr sz="1400">
                          <a:solidFill>
                            <a:srgbClr val="202020"/>
                          </a:solidFill>
                        </a:rPr>
                        <a:t>24,218</a:t>
                      </a:r>
                    </a:p>
                  </a:txBody>
                  <a:tcPr marL="73152" marR="73152" marT="36576" marB="36576" anchor="ctr">
                    <a:solidFill>
                      <a:srgbClr val="FFFFFF"/>
                    </a:solidFill>
                  </a:tcPr>
                </a:tc>
                <a:tc>
                  <a:txBody>
                    <a:bodyPr/>
                    <a:lstStyle/>
                    <a:p>
                      <a:pPr algn="l"/>
                      <a:r>
                        <a:rPr sz="1400">
                          <a:solidFill>
                            <a:srgbClr val="202020"/>
                          </a:solidFill>
                        </a:rPr>
                        <a:t>27,279</a:t>
                      </a:r>
                    </a:p>
                  </a:txBody>
                  <a:tcPr marL="73152" marR="73152" marT="36576" marB="36576" anchor="ctr">
                    <a:solidFill>
                      <a:srgbClr val="FFFFFF"/>
                    </a:solidFill>
                  </a:tcPr>
                </a:tc>
                <a:tc>
                  <a:txBody>
                    <a:bodyPr/>
                    <a:lstStyle/>
                    <a:p>
                      <a:pPr algn="l"/>
                      <a:r>
                        <a:rPr sz="1400">
                          <a:solidFill>
                            <a:srgbClr val="202020"/>
                          </a:solidFill>
                        </a:rPr>
                        <a:t>30,390</a:t>
                      </a:r>
                    </a:p>
                  </a:txBody>
                  <a:tcPr marL="73152" marR="73152" marT="36576" marB="36576" anchor="ctr">
                    <a:solidFill>
                      <a:srgbClr val="FFFFFF"/>
                    </a:solidFill>
                  </a:tcPr>
                </a:tc>
                <a:tc>
                  <a:txBody>
                    <a:bodyPr/>
                    <a:lstStyle/>
                    <a:p>
                      <a:pPr algn="l"/>
                      <a:r>
                        <a:rPr sz="1400">
                          <a:solidFill>
                            <a:srgbClr val="202020"/>
                          </a:solidFill>
                        </a:rPr>
                        <a:t>33,870</a:t>
                      </a:r>
                    </a:p>
                  </a:txBody>
                  <a:tcPr marL="73152" marR="73152" marT="36576" marB="36576" anchor="ctr">
                    <a:solidFill>
                      <a:srgbClr val="FFFFFF"/>
                    </a:solidFill>
                  </a:tcPr>
                </a:tc>
              </a:tr>
              <a:tr h="457200">
                <a:tc>
                  <a:txBody>
                    <a:bodyPr/>
                    <a:lstStyle/>
                    <a:p>
                      <a:pPr algn="l"/>
                      <a:r>
                        <a:rPr sz="1400">
                          <a:solidFill>
                            <a:srgbClr val="202020"/>
                          </a:solidFill>
                        </a:rPr>
                        <a:t>営業利益</a:t>
                      </a:r>
                    </a:p>
                  </a:txBody>
                  <a:tcPr marL="73152" marR="73152" marT="36576" marB="36576" anchor="ctr">
                    <a:solidFill>
                      <a:srgbClr val="F5F5F5"/>
                    </a:solidFill>
                  </a:tcPr>
                </a:tc>
                <a:tc>
                  <a:txBody>
                    <a:bodyPr/>
                    <a:lstStyle/>
                    <a:p>
                      <a:pPr algn="l"/>
                      <a:r>
                        <a:rPr sz="1400">
                          <a:solidFill>
                            <a:srgbClr val="202020"/>
                          </a:solidFill>
                        </a:rPr>
                        <a:t>1,135</a:t>
                      </a:r>
                    </a:p>
                  </a:txBody>
                  <a:tcPr marL="73152" marR="73152" marT="36576" marB="36576" anchor="ctr">
                    <a:solidFill>
                      <a:srgbClr val="F5F5F5"/>
                    </a:solidFill>
                  </a:tcPr>
                </a:tc>
                <a:tc>
                  <a:txBody>
                    <a:bodyPr/>
                    <a:lstStyle/>
                    <a:p>
                      <a:pPr algn="l"/>
                      <a:r>
                        <a:rPr sz="1400">
                          <a:solidFill>
                            <a:srgbClr val="202020"/>
                          </a:solidFill>
                        </a:rPr>
                        <a:t>2,590</a:t>
                      </a:r>
                    </a:p>
                  </a:txBody>
                  <a:tcPr marL="73152" marR="73152" marT="36576" marB="36576" anchor="ctr">
                    <a:solidFill>
                      <a:srgbClr val="F5F5F5"/>
                    </a:solidFill>
                  </a:tcPr>
                </a:tc>
                <a:tc>
                  <a:txBody>
                    <a:bodyPr/>
                    <a:lstStyle/>
                    <a:p>
                      <a:pPr algn="l"/>
                      <a:r>
                        <a:rPr sz="1400">
                          <a:solidFill>
                            <a:srgbClr val="202020"/>
                          </a:solidFill>
                        </a:rPr>
                        <a:t>4,040</a:t>
                      </a:r>
                    </a:p>
                  </a:txBody>
                  <a:tcPr marL="73152" marR="73152" marT="36576" marB="36576" anchor="ctr">
                    <a:solidFill>
                      <a:srgbClr val="F5F5F5"/>
                    </a:solidFill>
                  </a:tcPr>
                </a:tc>
                <a:tc>
                  <a:txBody>
                    <a:bodyPr/>
                    <a:lstStyle/>
                    <a:p>
                      <a:pPr algn="l"/>
                      <a:r>
                        <a:rPr sz="1400">
                          <a:solidFill>
                            <a:srgbClr val="202020"/>
                          </a:solidFill>
                        </a:rPr>
                        <a:t>5,440</a:t>
                      </a:r>
                    </a:p>
                  </a:txBody>
                  <a:tcPr marL="73152" marR="73152" marT="36576" marB="36576" anchor="ctr">
                    <a:solidFill>
                      <a:srgbClr val="F5F5F5"/>
                    </a:solidFill>
                  </a:tcPr>
                </a:tc>
                <a:tc>
                  <a:txBody>
                    <a:bodyPr/>
                    <a:lstStyle/>
                    <a:p>
                      <a:pPr algn="l"/>
                      <a:r>
                        <a:rPr sz="1400">
                          <a:solidFill>
                            <a:srgbClr val="202020"/>
                          </a:solidFill>
                        </a:rPr>
                        <a:t>7,111</a:t>
                      </a:r>
                    </a:p>
                  </a:txBody>
                  <a:tcPr marL="73152" marR="73152" marT="36576" marB="36576" anchor="ctr">
                    <a:solidFill>
                      <a:srgbClr val="F5F5F5"/>
                    </a:solidFill>
                  </a:tcPr>
                </a:tc>
              </a:tr>
              <a:tr h="457200">
                <a:tc>
                  <a:txBody>
                    <a:bodyPr/>
                    <a:lstStyle/>
                    <a:p>
                      <a:pPr algn="l"/>
                      <a:r>
                        <a:rPr sz="1400">
                          <a:solidFill>
                            <a:srgbClr val="202020"/>
                          </a:solidFill>
                        </a:rPr>
                        <a:t>営業利益率</a:t>
                      </a:r>
                    </a:p>
                  </a:txBody>
                  <a:tcPr marL="73152" marR="73152" marT="36576" marB="36576" anchor="ctr">
                    <a:solidFill>
                      <a:srgbClr val="FFFFFF"/>
                    </a:solidFill>
                  </a:tcPr>
                </a:tc>
                <a:tc>
                  <a:txBody>
                    <a:bodyPr/>
                    <a:lstStyle/>
                    <a:p>
                      <a:pPr algn="l"/>
                      <a:r>
                        <a:rPr sz="1400">
                          <a:solidFill>
                            <a:srgbClr val="202020"/>
                          </a:solidFill>
                        </a:rPr>
                        <a:t>5.3%</a:t>
                      </a:r>
                    </a:p>
                  </a:txBody>
                  <a:tcPr marL="73152" marR="73152" marT="36576" marB="36576" anchor="ctr">
                    <a:solidFill>
                      <a:srgbClr val="FFFFFF"/>
                    </a:solidFill>
                  </a:tcPr>
                </a:tc>
                <a:tc>
                  <a:txBody>
                    <a:bodyPr/>
                    <a:lstStyle/>
                    <a:p>
                      <a:pPr algn="l"/>
                      <a:r>
                        <a:rPr sz="1400">
                          <a:solidFill>
                            <a:srgbClr val="202020"/>
                          </a:solidFill>
                        </a:rPr>
                        <a:t>10.7%</a:t>
                      </a:r>
                    </a:p>
                  </a:txBody>
                  <a:tcPr marL="73152" marR="73152" marT="36576" marB="36576" anchor="ctr">
                    <a:solidFill>
                      <a:srgbClr val="FFFFFF"/>
                    </a:solidFill>
                  </a:tcPr>
                </a:tc>
                <a:tc>
                  <a:txBody>
                    <a:bodyPr/>
                    <a:lstStyle/>
                    <a:p>
                      <a:pPr algn="l"/>
                      <a:r>
                        <a:rPr sz="1400">
                          <a:solidFill>
                            <a:srgbClr val="202020"/>
                          </a:solidFill>
                        </a:rPr>
                        <a:t>14.8%</a:t>
                      </a:r>
                    </a:p>
                  </a:txBody>
                  <a:tcPr marL="73152" marR="73152" marT="36576" marB="36576" anchor="ctr">
                    <a:solidFill>
                      <a:srgbClr val="FFFFFF"/>
                    </a:solidFill>
                  </a:tcPr>
                </a:tc>
                <a:tc>
                  <a:txBody>
                    <a:bodyPr/>
                    <a:lstStyle/>
                    <a:p>
                      <a:pPr algn="l"/>
                      <a:r>
                        <a:rPr sz="1400">
                          <a:solidFill>
                            <a:srgbClr val="202020"/>
                          </a:solidFill>
                        </a:rPr>
                        <a:t>17.9%</a:t>
                      </a:r>
                    </a:p>
                  </a:txBody>
                  <a:tcPr marL="73152" marR="73152" marT="36576" marB="36576" anchor="ctr">
                    <a:solidFill>
                      <a:srgbClr val="FFFFFF"/>
                    </a:solidFill>
                  </a:tcPr>
                </a:tc>
                <a:tc>
                  <a:txBody>
                    <a:bodyPr/>
                    <a:lstStyle/>
                    <a:p>
                      <a:pPr algn="l"/>
                      <a:r>
                        <a:rPr sz="1400">
                          <a:solidFill>
                            <a:srgbClr val="202020"/>
                          </a:solidFill>
                        </a:rPr>
                        <a:t>21.0%</a:t>
                      </a:r>
                    </a:p>
                  </a:txBody>
                  <a:tcPr marL="73152" marR="73152" marT="36576" marB="36576" anchor="ctr">
                    <a:solidFill>
                      <a:srgbClr val="FFFFFF"/>
                    </a:solidFill>
                  </a:tcPr>
                </a:tc>
              </a:tr>
            </a:tbl>
          </a:graphicData>
        </a:graphic>
      </p:graphicFrame>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単位: 百万円</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PER感応度</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同業他社上場なし、電設サブコンPER 15-20 を参考</a:t>
            </a:r>
          </a:p>
        </p:txBody>
      </p:sp>
      <p:graphicFrame>
        <p:nvGraphicFramePr>
          <p:cNvPr id="5" name="Table 4"/>
          <p:cNvGraphicFramePr>
            <a:graphicFrameLocks noGrp="1"/>
          </p:cNvGraphicFramePr>
          <p:nvPr/>
        </p:nvGraphicFramePr>
        <p:xfrm>
          <a:off x="457200" y="2286000"/>
          <a:ext cx="11277295" cy="1828800"/>
        </p:xfrm>
        <a:graphic>
          <a:graphicData uri="http://schemas.openxmlformats.org/drawingml/2006/table">
            <a:tbl>
              <a:tblPr firstRow="1" bandRow="1">
                <a:tableStyleId>{5C22544A-7EE6-4342-B048-85BDC9FD1C3A}</a:tableStyleId>
              </a:tblPr>
              <a:tblGrid>
                <a:gridCol w="3759098"/>
                <a:gridCol w="3759098"/>
                <a:gridCol w="3759099"/>
              </a:tblGrid>
              <a:tr h="457200">
                <a:tc>
                  <a:txBody>
                    <a:bodyPr/>
                    <a:lstStyle/>
                    <a:p>
                      <a:pPr algn="ctr"/>
                      <a:r>
                        <a:rPr b="1" sz="1500">
                          <a:solidFill>
                            <a:srgbClr val="FFFFFF"/>
                          </a:solidFill>
                        </a:rPr>
                        <a:t>シナリオ</a:t>
                      </a:r>
                    </a:p>
                  </a:txBody>
                  <a:tcPr marL="73152" marR="73152" marT="36576" marB="36576" anchor="ctr">
                    <a:solidFill>
                      <a:srgbClr val="1F4E78"/>
                    </a:solidFill>
                  </a:tcPr>
                </a:tc>
                <a:tc>
                  <a:txBody>
                    <a:bodyPr/>
                    <a:lstStyle/>
                    <a:p>
                      <a:pPr algn="ctr"/>
                      <a:r>
                        <a:rPr b="1" sz="1500">
                          <a:solidFill>
                            <a:srgbClr val="FFFFFF"/>
                          </a:solidFill>
                        </a:rPr>
                        <a:t>PER</a:t>
                      </a:r>
                    </a:p>
                  </a:txBody>
                  <a:tcPr marL="73152" marR="73152" marT="36576" marB="36576" anchor="ctr">
                    <a:solidFill>
                      <a:srgbClr val="1F4E78"/>
                    </a:solidFill>
                  </a:tcPr>
                </a:tc>
                <a:tc>
                  <a:txBody>
                    <a:bodyPr/>
                    <a:lstStyle/>
                    <a:p>
                      <a:pPr algn="ctr"/>
                      <a:r>
                        <a:rPr b="1" sz="1500">
                          <a:solidFill>
                            <a:srgbClr val="FFFFFF"/>
                          </a:solidFill>
                        </a:rPr>
                        <a:t>根拠</a:t>
                      </a:r>
                    </a:p>
                  </a:txBody>
                  <a:tcPr marL="73152" marR="73152" marT="36576" marB="36576" anchor="ctr">
                    <a:solidFill>
                      <a:srgbClr val="1F4E78"/>
                    </a:solidFill>
                  </a:tcPr>
                </a:tc>
              </a:tr>
              <a:tr h="457200">
                <a:tc>
                  <a:txBody>
                    <a:bodyPr/>
                    <a:lstStyle/>
                    <a:p>
                      <a:pPr algn="l"/>
                      <a:r>
                        <a:rPr sz="1400">
                          <a:solidFill>
                            <a:srgbClr val="202020"/>
                          </a:solidFill>
                        </a:rPr>
                        <a:t>Worst</a:t>
                      </a:r>
                    </a:p>
                  </a:txBody>
                  <a:tcPr marL="73152" marR="73152" marT="36576" marB="36576" anchor="ctr">
                    <a:solidFill>
                      <a:srgbClr val="FFFFFF"/>
                    </a:solidFill>
                  </a:tcPr>
                </a:tc>
                <a:tc>
                  <a:txBody>
                    <a:bodyPr/>
                    <a:lstStyle/>
                    <a:p>
                      <a:pPr algn="l"/>
                      <a:r>
                        <a:rPr sz="1400">
                          <a:solidFill>
                            <a:srgbClr val="202020"/>
                          </a:solidFill>
                        </a:rPr>
                        <a:t>12.5</a:t>
                      </a:r>
                    </a:p>
                  </a:txBody>
                  <a:tcPr marL="73152" marR="73152" marT="36576" marB="36576" anchor="ctr">
                    <a:solidFill>
                      <a:srgbClr val="FFFFFF"/>
                    </a:solidFill>
                  </a:tcPr>
                </a:tc>
                <a:tc>
                  <a:txBody>
                    <a:bodyPr/>
                    <a:lstStyle/>
                    <a:p>
                      <a:pPr algn="l"/>
                      <a:r>
                        <a:rPr sz="1400">
                          <a:solidFill>
                            <a:srgbClr val="202020"/>
                          </a:solidFill>
                        </a:rPr>
                        <a:t>保守側</a:t>
                      </a:r>
                    </a:p>
                  </a:txBody>
                  <a:tcPr marL="73152" marR="73152" marT="36576" marB="36576" anchor="ctr">
                    <a:solidFill>
                      <a:srgbClr val="FFFFFF"/>
                    </a:solidFill>
                  </a:tcPr>
                </a:tc>
              </a:tr>
              <a:tr h="457200">
                <a:tc>
                  <a:txBody>
                    <a:bodyPr/>
                    <a:lstStyle/>
                    <a:p>
                      <a:pPr algn="l"/>
                      <a:r>
                        <a:rPr sz="1400">
                          <a:solidFill>
                            <a:srgbClr val="202020"/>
                          </a:solidFill>
                        </a:rPr>
                        <a:t>Normal</a:t>
                      </a:r>
                    </a:p>
                  </a:txBody>
                  <a:tcPr marL="73152" marR="73152" marT="36576" marB="36576" anchor="ctr">
                    <a:solidFill>
                      <a:srgbClr val="F5F5F5"/>
                    </a:solidFill>
                  </a:tcPr>
                </a:tc>
                <a:tc>
                  <a:txBody>
                    <a:bodyPr/>
                    <a:lstStyle/>
                    <a:p>
                      <a:pPr algn="l"/>
                      <a:r>
                        <a:rPr sz="1400">
                          <a:solidFill>
                            <a:srgbClr val="202020"/>
                          </a:solidFill>
                        </a:rPr>
                        <a:t>15</a:t>
                      </a:r>
                    </a:p>
                  </a:txBody>
                  <a:tcPr marL="73152" marR="73152" marT="36576" marB="36576" anchor="ctr">
                    <a:solidFill>
                      <a:srgbClr val="F5F5F5"/>
                    </a:solidFill>
                  </a:tcPr>
                </a:tc>
                <a:tc>
                  <a:txBody>
                    <a:bodyPr/>
                    <a:lstStyle/>
                    <a:p>
                      <a:pPr algn="l"/>
                      <a:r>
                        <a:rPr sz="1400">
                          <a:solidFill>
                            <a:srgbClr val="202020"/>
                          </a:solidFill>
                        </a:rPr>
                        <a:t>電設サブコン下限</a:t>
                      </a:r>
                    </a:p>
                  </a:txBody>
                  <a:tcPr marL="73152" marR="73152" marT="36576" marB="36576" anchor="ctr">
                    <a:solidFill>
                      <a:srgbClr val="F5F5F5"/>
                    </a:solidFill>
                  </a:tcPr>
                </a:tc>
              </a:tr>
              <a:tr h="457200">
                <a:tc>
                  <a:txBody>
                    <a:bodyPr/>
                    <a:lstStyle/>
                    <a:p>
                      <a:pPr algn="l"/>
                      <a:r>
                        <a:rPr sz="1400">
                          <a:solidFill>
                            <a:srgbClr val="202020"/>
                          </a:solidFill>
                        </a:rPr>
                        <a:t>Best</a:t>
                      </a:r>
                    </a:p>
                  </a:txBody>
                  <a:tcPr marL="73152" marR="73152" marT="36576" marB="36576" anchor="ctr">
                    <a:solidFill>
                      <a:srgbClr val="FFFFFF"/>
                    </a:solidFill>
                  </a:tcPr>
                </a:tc>
                <a:tc>
                  <a:txBody>
                    <a:bodyPr/>
                    <a:lstStyle/>
                    <a:p>
                      <a:pPr algn="l"/>
                      <a:r>
                        <a:rPr sz="1400">
                          <a:solidFill>
                            <a:srgbClr val="202020"/>
                          </a:solidFill>
                        </a:rPr>
                        <a:t>18</a:t>
                      </a:r>
                    </a:p>
                  </a:txBody>
                  <a:tcPr marL="73152" marR="73152" marT="36576" marB="36576" anchor="ctr">
                    <a:solidFill>
                      <a:srgbClr val="FFFFFF"/>
                    </a:solidFill>
                  </a:tcPr>
                </a:tc>
                <a:tc>
                  <a:txBody>
                    <a:bodyPr/>
                    <a:lstStyle/>
                    <a:p>
                      <a:pPr algn="l"/>
                      <a:r>
                        <a:rPr sz="1400">
                          <a:solidFill>
                            <a:srgbClr val="202020"/>
                          </a:solidFill>
                        </a:rPr>
                        <a:t>電設サブコン中央値</a:t>
                      </a:r>
                    </a:p>
                  </a:txBody>
                  <a:tcPr marL="73152" marR="73152" marT="36576" marB="36576" anchor="ctr">
                    <a:solidFill>
                      <a:srgbClr val="FFFFFF"/>
                    </a:solidFill>
                  </a:tcPr>
                </a:tc>
              </a:tr>
            </a:tbl>
          </a:graphicData>
        </a:graphic>
      </p:graphicFrame>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現状かわでんPER 14 → 上振れ余地あり</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目次(Appendixへ)</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45775" cy="4892040"/>
          </a:xfrm>
          <a:prstGeom prst="rect">
            <a:avLst/>
          </a:prstGeom>
          <a:noFill/>
        </p:spPr>
        <p:txBody>
          <a:bodyPr wrap="square" lIns="45720" rIns="45720">
            <a:spAutoFit/>
          </a:bodyPr>
          <a:lstStyle/>
          <a:p>
            <a:pPr algn="l">
              <a:lnSpc>
                <a:spcPct val="130000"/>
              </a:lnSpc>
            </a:pPr>
            <a:r>
              <a:rPr sz="2200">
                <a:solidFill>
                  <a:srgbClr val="1F4E78"/>
                </a:solidFill>
              </a:rPr>
              <a:t>▶  ▶ 5️⃣ Appendix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0"/>
            <a:ext cx="11277295" cy="1645920"/>
          </a:xfrm>
          <a:prstGeom prst="rect">
            <a:avLst/>
          </a:prstGeom>
          <a:noFill/>
        </p:spPr>
        <p:txBody>
          <a:bodyPr wrap="square" lIns="45720" rIns="45720" tIns="18288" bIns="18288">
            <a:spAutoFit/>
          </a:bodyPr>
          <a:lstStyle/>
          <a:p>
            <a:pPr algn="ctr"/>
            <a:r>
              <a:rPr sz="5800" b="1">
                <a:solidFill>
                  <a:srgbClr val="FFFFFF"/>
                </a:solidFill>
              </a:rPr>
              <a:t>5️⃣ Appendix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A. 投資期間: いつ売るか</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新工場稼働前に売却が資金効率的に最善</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29年期4Qから新工場の減価償却・費用が掛かり始める(年数十億)</a:t>
            </a:r>
          </a:p>
          <a:p>
            <a:pPr algn="l">
              <a:lnSpc>
                <a:spcPct val="130000"/>
              </a:lnSpc>
            </a:pPr>
            <a:r>
              <a:rPr sz="1800">
                <a:solidFill>
                  <a:srgbClr val="202020"/>
                </a:solidFill>
              </a:rPr>
              <a:t>•  値上げによる利益率改善が断言できるのは2-3年後まで</a:t>
            </a:r>
          </a:p>
          <a:p>
            <a:pPr algn="l">
              <a:lnSpc>
                <a:spcPct val="130000"/>
              </a:lnSpc>
            </a:pPr>
            <a:r>
              <a:rPr sz="1800">
                <a:solidFill>
                  <a:srgbClr val="202020"/>
                </a:solidFill>
              </a:rPr>
              <a:t>•  → 2027年5月(28年期ガイダンス時) もしくは 2028年2月(28年期3Q決算時)</a:t>
            </a:r>
          </a:p>
        </p:txBody>
      </p:sp>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かわでんIR、関電工IR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B. そんなに採用できるのか? → できる</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大手は採用絞り、落ちた人が来る構造</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ターゲット人材は毎年3,000-8,000人いる(関電工IR)</a:t>
            </a:r>
          </a:p>
          <a:p>
            <a:pPr algn="l">
              <a:lnSpc>
                <a:spcPct val="130000"/>
              </a:lnSpc>
            </a:pPr>
            <a:r>
              <a:rPr sz="1800">
                <a:solidFill>
                  <a:srgbClr val="202020"/>
                </a:solidFill>
              </a:rPr>
              <a:t>•  ここ数年新規+中途で毎年40-50人採用できている</a:t>
            </a:r>
          </a:p>
          <a:p>
            <a:pPr algn="l">
              <a:lnSpc>
                <a:spcPct val="130000"/>
              </a:lnSpc>
            </a:pPr>
            <a:r>
              <a:rPr sz="1800">
                <a:solidFill>
                  <a:srgbClr val="202020"/>
                </a:solidFill>
              </a:rPr>
              <a:t>•  競合他社以上の給料を出している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C. 大手に人手を吸われない? → 可能性低い</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関電工・きんでんはバブル期トラウマで採用絞り</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関電工・きんでんは大規模採用を絞る(バブル期に大量採用→リストラのトラウマ)</a:t>
            </a:r>
          </a:p>
          <a:p>
            <a:pPr algn="l">
              <a:lnSpc>
                <a:spcPct val="130000"/>
              </a:lnSpc>
            </a:pPr>
            <a:r>
              <a:rPr sz="1800">
                <a:solidFill>
                  <a:srgbClr val="202020"/>
                </a:solidFill>
              </a:rPr>
              <a:t>•  採用倍率: 関電工 約10倍、きんでん 約20倍</a:t>
            </a:r>
          </a:p>
          <a:p>
            <a:pPr algn="l">
              <a:lnSpc>
                <a:spcPct val="130000"/>
              </a:lnSpc>
            </a:pPr>
            <a:r>
              <a:rPr sz="1800">
                <a:solidFill>
                  <a:srgbClr val="202020"/>
                </a:solidFill>
              </a:rPr>
              <a:t>•  → そこで落ちた人がかわでんに来る = 数千人単位の潜在候補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D. リニューアルは他社に代替されない</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顧客リスト・設計図・独自部品がかわでんだけにある</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カスタム品: 顧客リストや設計図はかわでんしか持っていない</a:t>
            </a:r>
          </a:p>
          <a:p>
            <a:pPr algn="l">
              <a:lnSpc>
                <a:spcPct val="130000"/>
              </a:lnSpc>
            </a:pPr>
            <a:r>
              <a:rPr sz="1800">
                <a:solidFill>
                  <a:srgbClr val="202020"/>
                </a:solidFill>
              </a:rPr>
              <a:t>•  独自部品も多く使われ、他社は調達できない</a:t>
            </a:r>
          </a:p>
          <a:p>
            <a:pPr algn="l">
              <a:lnSpc>
                <a:spcPct val="130000"/>
              </a:lnSpc>
            </a:pPr>
            <a:r>
              <a:rPr sz="1800">
                <a:solidFill>
                  <a:srgbClr val="202020"/>
                </a:solidFill>
              </a:rPr>
              <a:t>•  建物全体の電気システムがかわでん配電盤に合うように作られている</a:t>
            </a:r>
          </a:p>
          <a:p>
            <a:pPr algn="l">
              <a:lnSpc>
                <a:spcPct val="130000"/>
              </a:lnSpc>
            </a:pPr>
            <a:r>
              <a:rPr sz="1800">
                <a:solidFill>
                  <a:srgbClr val="202020"/>
                </a:solidFill>
              </a:rPr>
              <a:t>•  → 既存顧客のメンテ・修理需要はほぼすべてかわでんでさばく</a:t>
            </a:r>
          </a:p>
        </p:txBody>
      </p:sp>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IR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E. 競合・外国企業の台頭? → 可能性低い</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カスタム品の参入障壁が高い</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汎用品メーカーがカスタム品参入: 設計人材・設備を急には整えられない</a:t>
            </a:r>
          </a:p>
          <a:p>
            <a:pPr algn="l">
              <a:lnSpc>
                <a:spcPct val="130000"/>
              </a:lnSpc>
            </a:pPr>
            <a:r>
              <a:rPr sz="1800">
                <a:solidFill>
                  <a:srgbClr val="202020"/>
                </a:solidFill>
              </a:rPr>
              <a:t>•  外国企業: 販売・設置体制を急には確保できない</a:t>
            </a:r>
          </a:p>
          <a:p>
            <a:pPr algn="l">
              <a:lnSpc>
                <a:spcPct val="130000"/>
              </a:lnSpc>
            </a:pPr>
            <a:r>
              <a:rPr sz="1800">
                <a:solidFill>
                  <a:srgbClr val="202020"/>
                </a:solidFill>
              </a:rPr>
              <a:t>•  顧客も信用のない会社に配電盤を任せにくい</a:t>
            </a:r>
          </a:p>
          <a:p>
            <a:pPr algn="l">
              <a:lnSpc>
                <a:spcPct val="130000"/>
              </a:lnSpc>
            </a:pPr>
            <a:r>
              <a:rPr sz="1800">
                <a:solidFill>
                  <a:srgbClr val="202020"/>
                </a:solidFill>
              </a:rPr>
              <a:t>•  → かわでんの一強が続く</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822960"/>
          </a:xfrm>
          <a:prstGeom prst="rect">
            <a:avLst/>
          </a:prstGeom>
          <a:noFill/>
        </p:spPr>
        <p:txBody>
          <a:bodyPr wrap="square" lIns="45720" rIns="45720" tIns="18288" bIns="18288">
            <a:spAutoFit/>
          </a:bodyPr>
          <a:lstStyle/>
          <a:p>
            <a:pPr algn="l"/>
            <a:r>
              <a:rPr sz="3000" b="1">
                <a:solidFill>
                  <a:srgbClr val="1F4E78"/>
                </a:solidFill>
              </a:rPr>
              <a:t>F. 工場の生産キャパは大丈夫?</a:t>
            </a:r>
          </a:p>
        </p:txBody>
      </p:sp>
      <p:sp>
        <p:nvSpPr>
          <p:cNvPr id="3" name="Rectangle 2"/>
          <p:cNvSpPr/>
          <p:nvPr/>
        </p:nvSpPr>
        <p:spPr>
          <a:xfrm>
            <a:off x="457200" y="1234440"/>
            <a:ext cx="1828800" cy="36576"/>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640080"/>
          </a:xfrm>
          <a:prstGeom prst="rect">
            <a:avLst/>
          </a:prstGeom>
          <a:noFill/>
        </p:spPr>
        <p:txBody>
          <a:bodyPr wrap="square" lIns="45720" rIns="45720" tIns="18288" bIns="18288">
            <a:spAutoFit/>
          </a:bodyPr>
          <a:lstStyle/>
          <a:p>
            <a:pPr algn="l"/>
            <a:r>
              <a:rPr sz="2200" b="1">
                <a:solidFill>
                  <a:srgbClr val="C0392B"/>
                </a:solidFill>
              </a:rPr>
              <a:t>既存2工場の稼働率80-90%、問題なし</a:t>
            </a:r>
          </a:p>
        </p:txBody>
      </p:sp>
      <p:sp>
        <p:nvSpPr>
          <p:cNvPr id="5" name="TextBox 4"/>
          <p:cNvSpPr txBox="1"/>
          <p:nvPr/>
        </p:nvSpPr>
        <p:spPr>
          <a:xfrm>
            <a:off x="640080" y="2286000"/>
            <a:ext cx="10911535" cy="4069080"/>
          </a:xfrm>
          <a:prstGeom prst="rect">
            <a:avLst/>
          </a:prstGeom>
          <a:noFill/>
        </p:spPr>
        <p:txBody>
          <a:bodyPr wrap="square" lIns="45720" rIns="45720">
            <a:spAutoFit/>
          </a:bodyPr>
          <a:lstStyle/>
          <a:p>
            <a:pPr algn="l">
              <a:lnSpc>
                <a:spcPct val="130000"/>
              </a:lnSpc>
            </a:pPr>
            <a:r>
              <a:rPr sz="1800">
                <a:solidFill>
                  <a:srgbClr val="202020"/>
                </a:solidFill>
              </a:rPr>
              <a:t>•  既存の国内2工場のキャパは割と余裕がある</a:t>
            </a:r>
          </a:p>
          <a:p>
            <a:pPr algn="l">
              <a:lnSpc>
                <a:spcPct val="130000"/>
              </a:lnSpc>
            </a:pPr>
            <a:r>
              <a:rPr sz="1800">
                <a:solidFill>
                  <a:srgbClr val="202020"/>
                </a:solidFill>
              </a:rPr>
              <a:t>•  現時点の工場稼働率は80-90%程度</a:t>
            </a:r>
          </a:p>
        </p:txBody>
      </p:sp>
      <p:sp>
        <p:nvSpPr>
          <p:cNvPr id="6" name="TextBox 5"/>
          <p:cNvSpPr txBox="1"/>
          <p:nvPr/>
        </p:nvSpPr>
        <p:spPr>
          <a:xfrm>
            <a:off x="457200" y="6446520"/>
            <a:ext cx="11277295" cy="320040"/>
          </a:xfrm>
          <a:prstGeom prst="rect">
            <a:avLst/>
          </a:prstGeom>
          <a:noFill/>
        </p:spPr>
        <p:txBody>
          <a:bodyPr wrap="square" lIns="45720" rIns="45720" tIns="18288" bIns="18288">
            <a:spAutoFit/>
          </a:bodyPr>
          <a:lstStyle/>
          <a:p>
            <a:pPr algn="l"/>
            <a:r>
              <a:rPr sz="1100" b="0">
                <a:solidFill>
                  <a:srgbClr val="808080"/>
                </a:solidFill>
              </a:rPr>
              <a:t>出典: 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